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12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0" r:id="rId3"/>
    <p:sldId id="258" r:id="rId4"/>
    <p:sldId id="257" r:id="rId5"/>
    <p:sldId id="263" r:id="rId6"/>
    <p:sldId id="264" r:id="rId7"/>
    <p:sldId id="265" r:id="rId8"/>
    <p:sldId id="266" r:id="rId9"/>
    <p:sldId id="267" r:id="rId10"/>
    <p:sldId id="262" r:id="rId11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>
        <p:scale>
          <a:sx n="75" d="100"/>
          <a:sy n="75" d="100"/>
        </p:scale>
        <p:origin x="974" y="278"/>
      </p:cViewPr>
      <p:guideLst>
        <p:guide orient="horz" pos="2160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A74EB7-856E-45FD-83F0-5F7C6F3E4372}" type="datetimeFigureOut">
              <a:rPr lang="en-US"/>
              <a:t>6/17/2026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86E15-F82A-4596-A46C-375C6D3981E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8308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0E40-8125-41F8-BB6C-139D8D531A4F}" type="datetimeFigureOut">
              <a:rPr lang="en-US"/>
              <a:t>6/17/2026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105DB2-FD3E-441D-8B7E-7AE83ECE27B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472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block"/>
          <p:cNvSpPr/>
          <p:nvPr/>
        </p:nvSpPr>
        <p:spPr bwMode="white">
          <a:xfrm>
            <a:off x="1141413" y="1600200"/>
            <a:ext cx="9902952" cy="3276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top graphic" descr="Top border design"/>
          <p:cNvGrpSpPr/>
          <p:nvPr/>
        </p:nvGrpSpPr>
        <p:grpSpPr>
          <a:xfrm>
            <a:off x="1279" y="0"/>
            <a:ext cx="12188952" cy="429768"/>
            <a:chOff x="1279" y="0"/>
            <a:chExt cx="12188952" cy="429768"/>
          </a:xfrm>
        </p:grpSpPr>
        <p:sp>
          <p:nvSpPr>
            <p:cNvPr id="8" name="Rectangle 7"/>
            <p:cNvSpPr/>
            <p:nvPr/>
          </p:nvSpPr>
          <p:spPr>
            <a:xfrm>
              <a:off x="1279" y="0"/>
              <a:ext cx="12188952" cy="2286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228600"/>
              <a:ext cx="12188952" cy="20116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79" y="306324"/>
              <a:ext cx="12188952" cy="45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3" name="bottom graphic" descr="Bottom border design"/>
          <p:cNvGrpSpPr/>
          <p:nvPr/>
        </p:nvGrpSpPr>
        <p:grpSpPr>
          <a:xfrm>
            <a:off x="0" y="6080760"/>
            <a:ext cx="12190231" cy="777240"/>
            <a:chOff x="0" y="6080760"/>
            <a:chExt cx="12190231" cy="777240"/>
          </a:xfrm>
        </p:grpSpPr>
        <p:sp>
          <p:nvSpPr>
            <p:cNvPr id="13" name="Rectangle 12"/>
            <p:cNvSpPr/>
            <p:nvPr/>
          </p:nvSpPr>
          <p:spPr>
            <a:xfrm>
              <a:off x="0" y="6217920"/>
              <a:ext cx="12188825" cy="64008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79" y="60807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79" y="6172200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1522414" y="1905000"/>
            <a:ext cx="9143998" cy="26670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bg1"/>
                </a:solidFill>
                <a:effectLst>
                  <a:outerShdw blurRad="88900" algn="ctr" rotWithShape="0">
                    <a:prstClr val="black">
                      <a:alpha val="3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029200"/>
            <a:ext cx="8229598" cy="838200"/>
          </a:xfrm>
        </p:spPr>
        <p:txBody>
          <a:bodyPr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7AA3D-A5B5-4C45-8E9B-82B25C6145DF}" type="datetime1">
              <a:rPr lang="en-US" smtClean="0"/>
              <a:t>6/17/2026</a:t>
            </a:fld>
            <a:endParaRPr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4935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306E3-14E1-40F6-A675-C774DFD37AA4}" type="datetime1">
              <a:rPr lang="en-US" smtClean="0"/>
              <a:t>6/17/2026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647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4876800"/>
            <a:ext cx="8229598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3E61EAA-5BF3-458F-A5FB-6CDE33DCA932}" type="datetime1">
              <a:rPr lang="en-US" smtClean="0"/>
              <a:t>6/17/2026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8729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849" y="1904999"/>
            <a:ext cx="4435564" cy="40889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5EC7C-06A0-4B43-BD0E-4B4AEFC67C5C}" type="datetime1">
              <a:rPr lang="en-US" smtClean="0"/>
              <a:t>6/17/2026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3606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6814" y="1828800"/>
            <a:ext cx="4419599" cy="685801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6814" y="2590801"/>
            <a:ext cx="4419599" cy="3429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59CA4-0E85-438A-BFD1-BDE66A690571}" type="datetime1">
              <a:rPr lang="en-US" smtClean="0"/>
              <a:t>6/17/2026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76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5A5A2-7B37-4B50-8243-EA1BF9C314FF}" type="datetime1">
              <a:rPr lang="en-US" smtClean="0"/>
              <a:t>6/17/2026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319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bottom graphic"/>
          <p:cNvGrpSpPr/>
          <p:nvPr userDrawn="1"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99750-2876-440F-834C-0BB75819F558}" type="datetime1">
              <a:rPr lang="en-US" smtClean="0"/>
              <a:t>6/17/2026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9611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1930" y="1293495"/>
            <a:ext cx="5577840" cy="40233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69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19833-7286-4D71-B750-2D24426EDE1B}" type="datetime1">
              <a:rPr lang="en-US" smtClean="0"/>
              <a:t>6/17/2026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386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" descr="Border design"/>
          <p:cNvSpPr/>
          <p:nvPr/>
        </p:nvSpPr>
        <p:spPr>
          <a:xfrm>
            <a:off x="1217610" y="1019175"/>
            <a:ext cx="6126480" cy="4572000"/>
          </a:xfrm>
          <a:prstGeom prst="rect">
            <a:avLst/>
          </a:prstGeom>
          <a:noFill/>
          <a:ln w="101600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3214" y="1371600"/>
            <a:ext cx="3124200" cy="2057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1400490" y="1202055"/>
            <a:ext cx="5760720" cy="4206240"/>
          </a:xfrm>
          <a:solidFill>
            <a:schemeClr val="bg1">
              <a:lumMod val="95000"/>
            </a:schemeClr>
          </a:solidFill>
        </p:spPr>
        <p:txBody>
          <a:bodyPr tIns="914400">
            <a:normAutofit/>
          </a:bodyPr>
          <a:lstStyle>
            <a:lvl1pPr marL="0" indent="0" algn="ctr">
              <a:spcBef>
                <a:spcPts val="0"/>
              </a:spcBef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3214" y="3536829"/>
            <a:ext cx="3124200" cy="1797171"/>
          </a:xfrm>
        </p:spPr>
        <p:txBody>
          <a:bodyPr>
            <a:normAutofit/>
          </a:bodyPr>
          <a:lstStyle>
            <a:lvl1pPr marL="0" indent="0">
              <a:spcBef>
                <a:spcPts val="8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4947A-D98F-4309-8E10-7A946E668D3D}" type="datetime1">
              <a:rPr lang="en-US" smtClean="0"/>
              <a:t>6/17/2026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6842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13A3F-C619-4E7E-9ED1-6D8EF82C60CB}" type="datetime1">
              <a:rPr lang="en-US" smtClean="0"/>
              <a:t>6/17/2026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7782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94507" y="609600"/>
            <a:ext cx="1143001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3" y="609600"/>
            <a:ext cx="7696198" cy="5410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03D0C-DBF5-418A-8763-39AFC4C4B196}" type="datetime1">
              <a:rPr lang="en-US" smtClean="0"/>
              <a:t>6/17/2026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0326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bottom graphic" descr="Bottom border design"/>
          <p:cNvGrpSpPr/>
          <p:nvPr/>
        </p:nvGrpSpPr>
        <p:grpSpPr>
          <a:xfrm>
            <a:off x="0" y="6309360"/>
            <a:ext cx="12190231" cy="548640"/>
            <a:chOff x="0" y="6309360"/>
            <a:chExt cx="12190231" cy="548640"/>
          </a:xfrm>
        </p:grpSpPr>
        <p:sp>
          <p:nvSpPr>
            <p:cNvPr id="7" name="Rectangle 6"/>
            <p:cNvSpPr/>
            <p:nvPr/>
          </p:nvSpPr>
          <p:spPr>
            <a:xfrm>
              <a:off x="0" y="6400800"/>
              <a:ext cx="12188825" cy="4572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1279" y="6309360"/>
              <a:ext cx="12188952" cy="9721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279" y="6379143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top graphic" descr="Top border design"/>
          <p:cNvGrpSpPr/>
          <p:nvPr/>
        </p:nvGrpSpPr>
        <p:grpSpPr>
          <a:xfrm>
            <a:off x="1279" y="0"/>
            <a:ext cx="12188952" cy="320040"/>
            <a:chOff x="1279" y="0"/>
            <a:chExt cx="12188952" cy="320040"/>
          </a:xfrm>
        </p:grpSpPr>
        <p:sp>
          <p:nvSpPr>
            <p:cNvPr id="11" name="Rectangle 10"/>
            <p:cNvSpPr/>
            <p:nvPr/>
          </p:nvSpPr>
          <p:spPr>
            <a:xfrm>
              <a:off x="1279" y="0"/>
              <a:ext cx="12188952" cy="170234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1279" y="170234"/>
              <a:ext cx="12188952" cy="149806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279" y="231421"/>
              <a:ext cx="12188952" cy="274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876" y="609600"/>
            <a:ext cx="9143538" cy="1066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876" y="1905000"/>
            <a:ext cx="9143538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1507498" y="6516865"/>
            <a:ext cx="6062145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7994363" y="6516865"/>
            <a:ext cx="1327622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EE09D5C8-8181-4A1A-8742-070AC128AEEB}" type="datetime1">
              <a:rPr lang="en-US" smtClean="0"/>
              <a:t>6/17/2026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9730094" y="6516865"/>
            <a:ext cx="936319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/>
                </a:solidFill>
              </a:defRPr>
            </a:lvl1pPr>
          </a:lstStyle>
          <a:p>
            <a:fld id="{DF28FB93-0A08-4E7D-8E63-9EFA29F1E09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84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100000"/>
        <a:buFont typeface="Arial" pitchFamily="34" charset="0"/>
        <a:buChar char="▪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/>
        </a:buClr>
        <a:buSzPct val="100000"/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544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402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9" Type="http://schemas.openxmlformats.org/officeDocument/2006/relationships/image" Target="../media/image2.png"/><Relationship Id="rId1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4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26" Type="http://schemas.openxmlformats.org/officeDocument/2006/relationships/image" Target="../media/image28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5" Type="http://schemas.openxmlformats.org/officeDocument/2006/relationships/image" Target="../media/image61.png"/><Relationship Id="rId2" Type="http://schemas.openxmlformats.org/officeDocument/2006/relationships/image" Target="../media/image27.pn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24" Type="http://schemas.openxmlformats.org/officeDocument/2006/relationships/image" Target="../media/image60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59.png"/><Relationship Id="rId28" Type="http://schemas.openxmlformats.org/officeDocument/2006/relationships/image" Target="../media/image64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Relationship Id="rId27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7456" y="1340768"/>
            <a:ext cx="9143998" cy="2667000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6000" dirty="0"/>
              <a:t>Kinematics of 3R or RRR Planar Robotic Arm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1884" y="5373216"/>
            <a:ext cx="8229598" cy="838200"/>
          </a:xfrm>
        </p:spPr>
        <p:txBody>
          <a:bodyPr/>
          <a:lstStyle/>
          <a:p>
            <a:r>
              <a:rPr lang="en-US" b="1" dirty="0"/>
              <a:t>Presented by: Sourav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6ED67-0C0B-404C-ADB4-DC864025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1</a:t>
            </a:fld>
            <a:endParaRPr lang="en-I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2674032" y="94566"/>
            <a:ext cx="684076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Kinematics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DDB58E-FEE5-45E2-B23D-648B137DEEE0}"/>
              </a:ext>
            </a:extLst>
          </p:cNvPr>
          <p:cNvSpPr txBox="1"/>
          <p:nvPr/>
        </p:nvSpPr>
        <p:spPr>
          <a:xfrm>
            <a:off x="549796" y="985431"/>
            <a:ext cx="54006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All three joints are revolute.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E344B25-47D5-46ED-8967-5E89B6941E85}"/>
              </a:ext>
            </a:extLst>
          </p:cNvPr>
          <p:cNvSpPr txBox="1"/>
          <p:nvPr/>
        </p:nvSpPr>
        <p:spPr>
          <a:xfrm>
            <a:off x="676127" y="5891744"/>
            <a:ext cx="253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2000" dirty="0"/>
              <a:t>CAD Model</a:t>
            </a:r>
          </a:p>
        </p:txBody>
      </p:sp>
      <p:sp>
        <p:nvSpPr>
          <p:cNvPr id="67" name="Cylinder 66">
            <a:extLst>
              <a:ext uri="{FF2B5EF4-FFF2-40B4-BE49-F238E27FC236}">
                <a16:creationId xmlns:a16="http://schemas.microsoft.com/office/drawing/2014/main" id="{D509D9DE-9541-4616-88CD-B2D4E5C7D293}"/>
              </a:ext>
            </a:extLst>
          </p:cNvPr>
          <p:cNvSpPr/>
          <p:nvPr/>
        </p:nvSpPr>
        <p:spPr>
          <a:xfrm>
            <a:off x="5014292" y="4402292"/>
            <a:ext cx="432048" cy="76001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9BF6FCC-9C65-4F9E-89F3-B8073BA44244}"/>
              </a:ext>
            </a:extLst>
          </p:cNvPr>
          <p:cNvCxnSpPr>
            <a:cxnSpLocks/>
          </p:cNvCxnSpPr>
          <p:nvPr/>
        </p:nvCxnSpPr>
        <p:spPr>
          <a:xfrm>
            <a:off x="5230316" y="3284984"/>
            <a:ext cx="1091" cy="11653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15E65E0-28D5-43A6-8731-AB2420398721}"/>
              </a:ext>
            </a:extLst>
          </p:cNvPr>
          <p:cNvCxnSpPr>
            <a:cxnSpLocks/>
          </p:cNvCxnSpPr>
          <p:nvPr/>
        </p:nvCxnSpPr>
        <p:spPr>
          <a:xfrm>
            <a:off x="5230316" y="5164467"/>
            <a:ext cx="0" cy="534756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BEFDACC-48AF-4E9A-B24B-4D1BE98BC0CD}"/>
              </a:ext>
            </a:extLst>
          </p:cNvPr>
          <p:cNvCxnSpPr>
            <a:cxnSpLocks/>
          </p:cNvCxnSpPr>
          <p:nvPr/>
        </p:nvCxnSpPr>
        <p:spPr>
          <a:xfrm flipV="1">
            <a:off x="5086300" y="3475581"/>
            <a:ext cx="288032" cy="21472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270548E-CA93-4741-AB6A-52F977C1C0F9}"/>
              </a:ext>
            </a:extLst>
          </p:cNvPr>
          <p:cNvCxnSpPr>
            <a:cxnSpLocks/>
          </p:cNvCxnSpPr>
          <p:nvPr/>
        </p:nvCxnSpPr>
        <p:spPr>
          <a:xfrm flipV="1">
            <a:off x="5100344" y="3604929"/>
            <a:ext cx="288032" cy="21472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B1D672D2-2C5A-4D88-A6D2-42437DB3D7BF}"/>
              </a:ext>
            </a:extLst>
          </p:cNvPr>
          <p:cNvCxnSpPr>
            <a:cxnSpLocks/>
          </p:cNvCxnSpPr>
          <p:nvPr/>
        </p:nvCxnSpPr>
        <p:spPr>
          <a:xfrm flipV="1">
            <a:off x="5065622" y="5314513"/>
            <a:ext cx="144016" cy="10736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66B3D23-8F70-41FF-89E5-4B2862D0694A}"/>
              </a:ext>
            </a:extLst>
          </p:cNvPr>
          <p:cNvCxnSpPr>
            <a:cxnSpLocks/>
          </p:cNvCxnSpPr>
          <p:nvPr/>
        </p:nvCxnSpPr>
        <p:spPr>
          <a:xfrm flipV="1">
            <a:off x="5075961" y="5413800"/>
            <a:ext cx="144016" cy="10736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A3CAAD34-5157-4FB2-A066-9AE78761DCEC}"/>
              </a:ext>
            </a:extLst>
          </p:cNvPr>
          <p:cNvCxnSpPr>
            <a:cxnSpLocks/>
          </p:cNvCxnSpPr>
          <p:nvPr/>
        </p:nvCxnSpPr>
        <p:spPr>
          <a:xfrm flipV="1">
            <a:off x="5075961" y="5528608"/>
            <a:ext cx="144016" cy="10736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Cylinder 87">
            <a:extLst>
              <a:ext uri="{FF2B5EF4-FFF2-40B4-BE49-F238E27FC236}">
                <a16:creationId xmlns:a16="http://schemas.microsoft.com/office/drawing/2014/main" id="{CB364BFC-567C-49A1-A793-7C49A8E8C13A}"/>
              </a:ext>
            </a:extLst>
          </p:cNvPr>
          <p:cNvSpPr/>
          <p:nvPr/>
        </p:nvSpPr>
        <p:spPr>
          <a:xfrm>
            <a:off x="6027235" y="3298313"/>
            <a:ext cx="432048" cy="76001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38AE57B0-B4EF-4983-8DEA-CBB680ADD713}"/>
              </a:ext>
            </a:extLst>
          </p:cNvPr>
          <p:cNvCxnSpPr>
            <a:cxnSpLocks/>
          </p:cNvCxnSpPr>
          <p:nvPr/>
        </p:nvCxnSpPr>
        <p:spPr>
          <a:xfrm>
            <a:off x="6243259" y="2181005"/>
            <a:ext cx="1091" cy="116533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71AE6559-BAFF-4F12-B4B2-C69977EB2A94}"/>
              </a:ext>
            </a:extLst>
          </p:cNvPr>
          <p:cNvCxnSpPr>
            <a:cxnSpLocks/>
          </p:cNvCxnSpPr>
          <p:nvPr/>
        </p:nvCxnSpPr>
        <p:spPr>
          <a:xfrm>
            <a:off x="6243260" y="4060488"/>
            <a:ext cx="0" cy="38983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044705D6-01AF-48F3-9B93-BE13D4837F6A}"/>
              </a:ext>
            </a:extLst>
          </p:cNvPr>
          <p:cNvCxnSpPr>
            <a:cxnSpLocks/>
          </p:cNvCxnSpPr>
          <p:nvPr/>
        </p:nvCxnSpPr>
        <p:spPr>
          <a:xfrm flipV="1">
            <a:off x="6099243" y="2371602"/>
            <a:ext cx="288032" cy="21472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D1BE67F3-0AC6-4F24-8FD6-D7E808F09288}"/>
              </a:ext>
            </a:extLst>
          </p:cNvPr>
          <p:cNvCxnSpPr>
            <a:cxnSpLocks/>
          </p:cNvCxnSpPr>
          <p:nvPr/>
        </p:nvCxnSpPr>
        <p:spPr>
          <a:xfrm flipV="1">
            <a:off x="6113287" y="2500950"/>
            <a:ext cx="288032" cy="21472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Cylinder 92">
            <a:extLst>
              <a:ext uri="{FF2B5EF4-FFF2-40B4-BE49-F238E27FC236}">
                <a16:creationId xmlns:a16="http://schemas.microsoft.com/office/drawing/2014/main" id="{FFDB1F13-12C6-4694-9489-A76222009CC6}"/>
              </a:ext>
            </a:extLst>
          </p:cNvPr>
          <p:cNvSpPr/>
          <p:nvPr/>
        </p:nvSpPr>
        <p:spPr>
          <a:xfrm>
            <a:off x="6860912" y="2390885"/>
            <a:ext cx="432048" cy="760010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4C3D2DE4-CFD9-44BA-8511-6715208972D1}"/>
              </a:ext>
            </a:extLst>
          </p:cNvPr>
          <p:cNvCxnSpPr>
            <a:cxnSpLocks/>
          </p:cNvCxnSpPr>
          <p:nvPr/>
        </p:nvCxnSpPr>
        <p:spPr>
          <a:xfrm>
            <a:off x="7052559" y="1445240"/>
            <a:ext cx="25468" cy="99367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BB7B5FE0-6C6C-4BE7-A7CF-E0C70340E48F}"/>
              </a:ext>
            </a:extLst>
          </p:cNvPr>
          <p:cNvCxnSpPr>
            <a:cxnSpLocks/>
          </p:cNvCxnSpPr>
          <p:nvPr/>
        </p:nvCxnSpPr>
        <p:spPr>
          <a:xfrm flipV="1">
            <a:off x="6939696" y="1741804"/>
            <a:ext cx="288032" cy="21472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0A107802-995D-4AA5-B64C-FC14BDCF7F43}"/>
              </a:ext>
            </a:extLst>
          </p:cNvPr>
          <p:cNvCxnSpPr>
            <a:cxnSpLocks/>
          </p:cNvCxnSpPr>
          <p:nvPr/>
        </p:nvCxnSpPr>
        <p:spPr>
          <a:xfrm flipV="1">
            <a:off x="6946964" y="1593522"/>
            <a:ext cx="288032" cy="214727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83EEB62C-8F44-4112-96D5-5D17B47A6A5A}"/>
              </a:ext>
            </a:extLst>
          </p:cNvPr>
          <p:cNvCxnSpPr>
            <a:cxnSpLocks/>
            <a:endCxn id="102" idx="2"/>
          </p:cNvCxnSpPr>
          <p:nvPr/>
        </p:nvCxnSpPr>
        <p:spPr>
          <a:xfrm>
            <a:off x="5446340" y="4745976"/>
            <a:ext cx="55548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Arc 101">
            <a:extLst>
              <a:ext uri="{FF2B5EF4-FFF2-40B4-BE49-F238E27FC236}">
                <a16:creationId xmlns:a16="http://schemas.microsoft.com/office/drawing/2014/main" id="{9227E881-5449-4132-9FAF-6113EE37CBAB}"/>
              </a:ext>
            </a:extLst>
          </p:cNvPr>
          <p:cNvSpPr/>
          <p:nvPr/>
        </p:nvSpPr>
        <p:spPr>
          <a:xfrm rot="5400000">
            <a:off x="5628825" y="4139241"/>
            <a:ext cx="606715" cy="622153"/>
          </a:xfrm>
          <a:prstGeom prst="arc">
            <a:avLst>
              <a:gd name="adj1" fmla="val 16182609"/>
              <a:gd name="adj2" fmla="val 20804762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0FFF0C4C-4F5E-4B04-82A8-F49F4CD221D2}"/>
              </a:ext>
            </a:extLst>
          </p:cNvPr>
          <p:cNvCxnSpPr>
            <a:cxnSpLocks/>
          </p:cNvCxnSpPr>
          <p:nvPr/>
        </p:nvCxnSpPr>
        <p:spPr>
          <a:xfrm>
            <a:off x="7097558" y="3130456"/>
            <a:ext cx="0" cy="38983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B0DBB455-21C3-471A-A1E8-AE419F4E4139}"/>
              </a:ext>
            </a:extLst>
          </p:cNvPr>
          <p:cNvCxnSpPr>
            <a:cxnSpLocks/>
            <a:endCxn id="114" idx="2"/>
          </p:cNvCxnSpPr>
          <p:nvPr/>
        </p:nvCxnSpPr>
        <p:spPr>
          <a:xfrm>
            <a:off x="6456488" y="3815944"/>
            <a:ext cx="39963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Arc 113">
            <a:extLst>
              <a:ext uri="{FF2B5EF4-FFF2-40B4-BE49-F238E27FC236}">
                <a16:creationId xmlns:a16="http://schemas.microsoft.com/office/drawing/2014/main" id="{C3D2510B-FFB2-4D84-8920-CBF654ED0163}"/>
              </a:ext>
            </a:extLst>
          </p:cNvPr>
          <p:cNvSpPr/>
          <p:nvPr/>
        </p:nvSpPr>
        <p:spPr>
          <a:xfrm rot="5400000">
            <a:off x="6483123" y="3209209"/>
            <a:ext cx="606715" cy="622153"/>
          </a:xfrm>
          <a:prstGeom prst="arc">
            <a:avLst>
              <a:gd name="adj1" fmla="val 16182609"/>
              <a:gd name="adj2" fmla="val 20804762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8EA90B0E-40A7-4F2A-85C7-F3826B535847}"/>
              </a:ext>
            </a:extLst>
          </p:cNvPr>
          <p:cNvSpPr txBox="1"/>
          <p:nvPr/>
        </p:nvSpPr>
        <p:spPr>
          <a:xfrm>
            <a:off x="4665696" y="5888259"/>
            <a:ext cx="253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dirty="0"/>
              <a:t>Schematic Diagram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1E3DFE2-F791-4000-99C5-EB5CC3BFEB62}"/>
              </a:ext>
            </a:extLst>
          </p:cNvPr>
          <p:cNvCxnSpPr>
            <a:cxnSpLocks/>
          </p:cNvCxnSpPr>
          <p:nvPr/>
        </p:nvCxnSpPr>
        <p:spPr>
          <a:xfrm>
            <a:off x="8085020" y="2049081"/>
            <a:ext cx="0" cy="38983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DD5EBEFC-9756-49C9-BCB8-6D98F91ABD07}"/>
              </a:ext>
            </a:extLst>
          </p:cNvPr>
          <p:cNvCxnSpPr>
            <a:cxnSpLocks/>
            <a:endCxn id="121" idx="2"/>
          </p:cNvCxnSpPr>
          <p:nvPr/>
        </p:nvCxnSpPr>
        <p:spPr>
          <a:xfrm>
            <a:off x="7288100" y="2734569"/>
            <a:ext cx="55548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Arc 120">
            <a:extLst>
              <a:ext uri="{FF2B5EF4-FFF2-40B4-BE49-F238E27FC236}">
                <a16:creationId xmlns:a16="http://schemas.microsoft.com/office/drawing/2014/main" id="{9508E65A-0095-4D5E-90A1-AF42EFC8B3AD}"/>
              </a:ext>
            </a:extLst>
          </p:cNvPr>
          <p:cNvSpPr/>
          <p:nvPr/>
        </p:nvSpPr>
        <p:spPr>
          <a:xfrm rot="5400000">
            <a:off x="7470585" y="2127834"/>
            <a:ext cx="606715" cy="622153"/>
          </a:xfrm>
          <a:prstGeom prst="arc">
            <a:avLst>
              <a:gd name="adj1" fmla="val 16182609"/>
              <a:gd name="adj2" fmla="val 20804762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378A963D-6AD9-48B0-8B64-217A6EFD1892}"/>
              </a:ext>
            </a:extLst>
          </p:cNvPr>
          <p:cNvCxnSpPr>
            <a:cxnSpLocks/>
          </p:cNvCxnSpPr>
          <p:nvPr/>
        </p:nvCxnSpPr>
        <p:spPr>
          <a:xfrm>
            <a:off x="7807278" y="2049081"/>
            <a:ext cx="555482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945C7AA7-2FAB-468B-96BD-F904713F392F}"/>
              </a:ext>
            </a:extLst>
          </p:cNvPr>
          <p:cNvCxnSpPr>
            <a:cxnSpLocks/>
          </p:cNvCxnSpPr>
          <p:nvPr/>
        </p:nvCxnSpPr>
        <p:spPr>
          <a:xfrm flipV="1">
            <a:off x="7815148" y="1818570"/>
            <a:ext cx="87334" cy="23051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0D0F95E5-6416-4889-99E8-755765F5B11A}"/>
              </a:ext>
            </a:extLst>
          </p:cNvPr>
          <p:cNvCxnSpPr>
            <a:cxnSpLocks/>
          </p:cNvCxnSpPr>
          <p:nvPr/>
        </p:nvCxnSpPr>
        <p:spPr>
          <a:xfrm flipH="1" flipV="1">
            <a:off x="7906417" y="1829274"/>
            <a:ext cx="60203" cy="230512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0A87026C-0D4A-4962-BAE7-109248124AF4}"/>
              </a:ext>
            </a:extLst>
          </p:cNvPr>
          <p:cNvCxnSpPr>
            <a:cxnSpLocks/>
          </p:cNvCxnSpPr>
          <p:nvPr/>
        </p:nvCxnSpPr>
        <p:spPr>
          <a:xfrm flipH="1" flipV="1">
            <a:off x="8286883" y="1818568"/>
            <a:ext cx="68609" cy="230513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B1BBFE3C-3606-40A8-9BBA-86431BBB570E}"/>
              </a:ext>
            </a:extLst>
          </p:cNvPr>
          <p:cNvCxnSpPr>
            <a:cxnSpLocks/>
          </p:cNvCxnSpPr>
          <p:nvPr/>
        </p:nvCxnSpPr>
        <p:spPr>
          <a:xfrm flipV="1">
            <a:off x="8199549" y="1818570"/>
            <a:ext cx="87334" cy="230511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86054AB7-145D-4796-8DAA-0AF8B0B4B4FB}"/>
              </a:ext>
            </a:extLst>
          </p:cNvPr>
          <p:cNvSpPr txBox="1"/>
          <p:nvPr/>
        </p:nvSpPr>
        <p:spPr>
          <a:xfrm>
            <a:off x="5147978" y="1022823"/>
            <a:ext cx="733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000" dirty="0"/>
              <a:t>Double hash marks indicates all 3 axes are parallel.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BE66574-B3C8-4495-8B67-71903236335C}"/>
                  </a:ext>
                </a:extLst>
              </p:cNvPr>
              <p:cNvSpPr txBox="1"/>
              <p:nvPr/>
            </p:nvSpPr>
            <p:spPr>
              <a:xfrm>
                <a:off x="3367996" y="1654960"/>
                <a:ext cx="500446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    </m:t>
                        </m:r>
                      </m:sub>
                    </m:sSub>
                  </m:oMath>
                </a14:m>
                <a:r>
                  <a:rPr lang="en-IN" sz="2000" dirty="0"/>
                  <a:t>→ Link lengths</a:t>
                </a:r>
              </a:p>
              <a:p>
                <a:pPr marL="342900" indent="-342900">
                  <a:lnSpc>
                    <a:spcPct val="9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b="0" i="1" smtClean="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→ Joint angles </a:t>
                </a:r>
              </a:p>
              <a:p>
                <a:pPr>
                  <a:lnSpc>
                    <a:spcPct val="90000"/>
                  </a:lnSpc>
                </a:pPr>
                <a:endParaRPr lang="en-IN" sz="20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2BE66574-B3C8-4495-8B67-7190323633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96" y="1654960"/>
                <a:ext cx="5004460" cy="923330"/>
              </a:xfrm>
              <a:prstGeom prst="rect">
                <a:avLst/>
              </a:prstGeom>
              <a:blipFill>
                <a:blip r:embed="rId8"/>
                <a:stretch>
                  <a:fillRect l="-1096" t="-72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0" name="Picture 139">
            <a:extLst>
              <a:ext uri="{FF2B5EF4-FFF2-40B4-BE49-F238E27FC236}">
                <a16:creationId xmlns:a16="http://schemas.microsoft.com/office/drawing/2014/main" id="{1DD96364-21A7-4E78-A910-8871FACAA6CA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r="9913"/>
          <a:stretch/>
        </p:blipFill>
        <p:spPr>
          <a:xfrm>
            <a:off x="8557919" y="1700885"/>
            <a:ext cx="3440891" cy="4126563"/>
          </a:xfrm>
          <a:prstGeom prst="rect">
            <a:avLst/>
          </a:prstGeom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96596EA-413A-41B1-89C0-ADE09EF356A0}"/>
              </a:ext>
            </a:extLst>
          </p:cNvPr>
          <p:cNvCxnSpPr/>
          <p:nvPr/>
        </p:nvCxnSpPr>
        <p:spPr>
          <a:xfrm>
            <a:off x="9262764" y="5404454"/>
            <a:ext cx="144016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95466C7-462E-4CB1-9692-01FF429B97EF}"/>
              </a:ext>
            </a:extLst>
          </p:cNvPr>
          <p:cNvCxnSpPr>
            <a:cxnSpLocks/>
          </p:cNvCxnSpPr>
          <p:nvPr/>
        </p:nvCxnSpPr>
        <p:spPr>
          <a:xfrm flipV="1">
            <a:off x="9262764" y="4146960"/>
            <a:ext cx="0" cy="12574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93A28465-93F3-4410-B7CB-CF10FA24685D}"/>
              </a:ext>
            </a:extLst>
          </p:cNvPr>
          <p:cNvCxnSpPr>
            <a:cxnSpLocks/>
          </p:cNvCxnSpPr>
          <p:nvPr/>
        </p:nvCxnSpPr>
        <p:spPr>
          <a:xfrm flipV="1">
            <a:off x="9262764" y="4576816"/>
            <a:ext cx="892048" cy="82000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66E85E1-3810-4A1B-BFD9-995E622A9470}"/>
              </a:ext>
            </a:extLst>
          </p:cNvPr>
          <p:cNvCxnSpPr>
            <a:cxnSpLocks/>
          </p:cNvCxnSpPr>
          <p:nvPr/>
        </p:nvCxnSpPr>
        <p:spPr>
          <a:xfrm flipH="1" flipV="1">
            <a:off x="8362760" y="4501481"/>
            <a:ext cx="900004" cy="895335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B68D223-0C20-44E2-9D3D-C0662FADA9C7}"/>
              </a:ext>
            </a:extLst>
          </p:cNvPr>
          <p:cNvCxnSpPr>
            <a:cxnSpLocks/>
          </p:cNvCxnSpPr>
          <p:nvPr/>
        </p:nvCxnSpPr>
        <p:spPr>
          <a:xfrm flipH="1" flipV="1">
            <a:off x="10472005" y="3298313"/>
            <a:ext cx="281923" cy="7600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D790A66-30DA-450B-92DE-BB3784302800}"/>
              </a:ext>
            </a:extLst>
          </p:cNvPr>
          <p:cNvCxnSpPr>
            <a:cxnSpLocks/>
          </p:cNvCxnSpPr>
          <p:nvPr/>
        </p:nvCxnSpPr>
        <p:spPr>
          <a:xfrm flipH="1">
            <a:off x="9921751" y="4033810"/>
            <a:ext cx="840068" cy="37982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5C27B155-478E-42B5-92BD-0F80D8753EE3}"/>
              </a:ext>
            </a:extLst>
          </p:cNvPr>
          <p:cNvCxnSpPr>
            <a:cxnSpLocks/>
          </p:cNvCxnSpPr>
          <p:nvPr/>
        </p:nvCxnSpPr>
        <p:spPr>
          <a:xfrm flipH="1">
            <a:off x="9942218" y="2573555"/>
            <a:ext cx="277117" cy="60466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DE990B83-4640-4FA0-AD3F-9CDF4B91AD9A}"/>
              </a:ext>
            </a:extLst>
          </p:cNvPr>
          <p:cNvCxnSpPr>
            <a:cxnSpLocks/>
          </p:cNvCxnSpPr>
          <p:nvPr/>
        </p:nvCxnSpPr>
        <p:spPr>
          <a:xfrm flipH="1" flipV="1">
            <a:off x="9431612" y="2292181"/>
            <a:ext cx="767855" cy="29285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FAB26B3-219B-4F28-91FD-E24EBB161C50}"/>
              </a:ext>
            </a:extLst>
          </p:cNvPr>
          <p:cNvCxnSpPr>
            <a:cxnSpLocks/>
          </p:cNvCxnSpPr>
          <p:nvPr/>
        </p:nvCxnSpPr>
        <p:spPr>
          <a:xfrm flipH="1">
            <a:off x="8858636" y="2152258"/>
            <a:ext cx="277118" cy="60466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D85BA46-DA3B-4302-BEF8-618361DE8118}"/>
              </a:ext>
            </a:extLst>
          </p:cNvPr>
          <p:cNvCxnSpPr>
            <a:cxnSpLocks/>
          </p:cNvCxnSpPr>
          <p:nvPr/>
        </p:nvCxnSpPr>
        <p:spPr>
          <a:xfrm flipH="1" flipV="1">
            <a:off x="8477226" y="1907941"/>
            <a:ext cx="638660" cy="255795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C4FD8581-E255-4AB6-B874-D67D5937793C}"/>
              </a:ext>
            </a:extLst>
          </p:cNvPr>
          <p:cNvSpPr txBox="1"/>
          <p:nvPr/>
        </p:nvSpPr>
        <p:spPr>
          <a:xfrm>
            <a:off x="8655265" y="5893318"/>
            <a:ext cx="253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dirty="0"/>
              <a:t>Assigning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C3DECE-C3E8-4048-B015-071599BF9E32}"/>
                  </a:ext>
                </a:extLst>
              </p:cNvPr>
              <p:cNvSpPr txBox="1"/>
              <p:nvPr/>
            </p:nvSpPr>
            <p:spPr>
              <a:xfrm>
                <a:off x="10401779" y="5432365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2C3DECE-C3E8-4048-B015-071599BF9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1779" y="5432365"/>
                <a:ext cx="360040" cy="341632"/>
              </a:xfrm>
              <a:prstGeom prst="rect">
                <a:avLst/>
              </a:prstGeom>
              <a:blipFill>
                <a:blip r:embed="rId10"/>
                <a:stretch>
                  <a:fillRect r="-8475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31F4CC6-3D48-481F-BA04-7C69305F1E34}"/>
                  </a:ext>
                </a:extLst>
              </p:cNvPr>
              <p:cNvSpPr txBox="1"/>
              <p:nvPr/>
            </p:nvSpPr>
            <p:spPr>
              <a:xfrm>
                <a:off x="10554650" y="3101432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331F4CC6-3D48-481F-BA04-7C69305F1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650" y="3101432"/>
                <a:ext cx="360040" cy="341632"/>
              </a:xfrm>
              <a:prstGeom prst="rect">
                <a:avLst/>
              </a:prstGeom>
              <a:blipFill>
                <a:blip r:embed="rId11"/>
                <a:stretch>
                  <a:fillRect r="-8475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744B86F-E742-41F1-9284-266320C113E5}"/>
                  </a:ext>
                </a:extLst>
              </p:cNvPr>
              <p:cNvSpPr txBox="1"/>
              <p:nvPr/>
            </p:nvSpPr>
            <p:spPr>
              <a:xfrm>
                <a:off x="9346038" y="1810626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6744B86F-E742-41F1-9284-266320C11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6038" y="1810626"/>
                <a:ext cx="360040" cy="341632"/>
              </a:xfrm>
              <a:prstGeom prst="rect">
                <a:avLst/>
              </a:prstGeom>
              <a:blipFill>
                <a:blip r:embed="rId12"/>
                <a:stretch>
                  <a:fillRect r="-8475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E7DEB49-4250-4845-909B-80F37635791A}"/>
                  </a:ext>
                </a:extLst>
              </p:cNvPr>
              <p:cNvSpPr txBox="1"/>
              <p:nvPr/>
            </p:nvSpPr>
            <p:spPr>
              <a:xfrm>
                <a:off x="8468352" y="1614899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8E7DEB49-4250-4845-909B-80F376357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8352" y="1614899"/>
                <a:ext cx="360040" cy="341632"/>
              </a:xfrm>
              <a:prstGeom prst="rect">
                <a:avLst/>
              </a:prstGeom>
              <a:blipFill>
                <a:blip r:embed="rId13"/>
                <a:stretch>
                  <a:fillRect r="-8475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C042105-47B1-450B-9A8E-3BC9A30223D7}"/>
                  </a:ext>
                </a:extLst>
              </p:cNvPr>
              <p:cNvSpPr txBox="1"/>
              <p:nvPr/>
            </p:nvSpPr>
            <p:spPr>
              <a:xfrm>
                <a:off x="10136729" y="4642946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BC042105-47B1-450B-9A8E-3BC9A3022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6729" y="4642946"/>
                <a:ext cx="360040" cy="341632"/>
              </a:xfrm>
              <a:prstGeom prst="rect">
                <a:avLst/>
              </a:prstGeom>
              <a:blipFill>
                <a:blip r:embed="rId14"/>
                <a:stretch>
                  <a:fillRect r="-5085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4509880F-193E-4E5E-A235-462722117B01}"/>
                  </a:ext>
                </a:extLst>
              </p:cNvPr>
              <p:cNvSpPr txBox="1"/>
              <p:nvPr/>
            </p:nvSpPr>
            <p:spPr>
              <a:xfrm>
                <a:off x="8817175" y="4178193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4509880F-193E-4E5E-A235-462722117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7175" y="4178193"/>
                <a:ext cx="360040" cy="341632"/>
              </a:xfrm>
              <a:prstGeom prst="rect">
                <a:avLst/>
              </a:prstGeom>
              <a:blipFill>
                <a:blip r:embed="rId15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071576A-ACDB-4C2F-BB23-6318530B4182}"/>
                  </a:ext>
                </a:extLst>
              </p:cNvPr>
              <p:cNvSpPr txBox="1"/>
              <p:nvPr/>
            </p:nvSpPr>
            <p:spPr>
              <a:xfrm>
                <a:off x="8136460" y="4448282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071576A-ACDB-4C2F-BB23-6318530B4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6460" y="4448282"/>
                <a:ext cx="360040" cy="341632"/>
              </a:xfrm>
              <a:prstGeom prst="rect">
                <a:avLst/>
              </a:prstGeom>
              <a:blipFill>
                <a:blip r:embed="rId1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92F16DC-6FD4-4ED6-99BD-D526D80AA6C8}"/>
                  </a:ext>
                </a:extLst>
              </p:cNvPr>
              <p:cNvSpPr txBox="1"/>
              <p:nvPr/>
            </p:nvSpPr>
            <p:spPr>
              <a:xfrm>
                <a:off x="9578143" y="3074280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892F16DC-6FD4-4ED6-99BD-D526D80AA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78143" y="3074280"/>
                <a:ext cx="360040" cy="341632"/>
              </a:xfrm>
              <a:prstGeom prst="rect">
                <a:avLst/>
              </a:prstGeom>
              <a:blipFill>
                <a:blip r:embed="rId1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6F37583-29D5-49C1-BF54-07A2EF1B22EE}"/>
                  </a:ext>
                </a:extLst>
              </p:cNvPr>
              <p:cNvSpPr txBox="1"/>
              <p:nvPr/>
            </p:nvSpPr>
            <p:spPr>
              <a:xfrm>
                <a:off x="9568355" y="4129591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6F37583-29D5-49C1-BF54-07A2EF1B22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8355" y="4129591"/>
                <a:ext cx="360040" cy="341632"/>
              </a:xfrm>
              <a:prstGeom prst="rect">
                <a:avLst/>
              </a:prstGeom>
              <a:blipFill>
                <a:blip r:embed="rId18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0465CAC-3F81-46FF-9E56-410CD884E383}"/>
                  </a:ext>
                </a:extLst>
              </p:cNvPr>
              <p:cNvSpPr txBox="1"/>
              <p:nvPr/>
            </p:nvSpPr>
            <p:spPr>
              <a:xfrm>
                <a:off x="8691513" y="2739801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F0465CAC-3F81-46FF-9E56-410CD884E3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1513" y="2739801"/>
                <a:ext cx="360040" cy="341632"/>
              </a:xfrm>
              <a:prstGeom prst="rect">
                <a:avLst/>
              </a:prstGeom>
              <a:blipFill>
                <a:blip r:embed="rId19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193711A7-644C-47D8-9539-CA3A8F4DB2EE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3D9120-D4DE-449A-AD24-230873B3A96B}"/>
              </a:ext>
            </a:extLst>
          </p:cNvPr>
          <p:cNvSpPr txBox="1"/>
          <p:nvPr/>
        </p:nvSpPr>
        <p:spPr>
          <a:xfrm>
            <a:off x="3821096" y="2328806"/>
            <a:ext cx="2077135" cy="31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/>
              <a:t>1, 2, 3</a:t>
            </a:r>
            <a:endParaRPr lang="en-IN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2D6EC09-F841-4C63-BC4E-55F76E81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2</a:t>
            </a:fld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1D04B9-EB8C-4174-8EFA-8A935E8BB05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21674" y="1741804"/>
            <a:ext cx="2755147" cy="399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468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1337015" y="88660"/>
            <a:ext cx="9514793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 Parameters</a:t>
            </a: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1DD96364-21A7-4E78-A910-8871FACAA6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913"/>
          <a:stretch/>
        </p:blipFill>
        <p:spPr>
          <a:xfrm>
            <a:off x="8254652" y="1124744"/>
            <a:ext cx="3440891" cy="4126563"/>
          </a:xfrm>
          <a:prstGeom prst="rect">
            <a:avLst/>
          </a:prstGeom>
        </p:spPr>
      </p:pic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396596EA-413A-41B1-89C0-ADE09EF356A0}"/>
              </a:ext>
            </a:extLst>
          </p:cNvPr>
          <p:cNvCxnSpPr/>
          <p:nvPr/>
        </p:nvCxnSpPr>
        <p:spPr>
          <a:xfrm>
            <a:off x="8959497" y="4828313"/>
            <a:ext cx="144016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Arrow Connector 142">
            <a:extLst>
              <a:ext uri="{FF2B5EF4-FFF2-40B4-BE49-F238E27FC236}">
                <a16:creationId xmlns:a16="http://schemas.microsoft.com/office/drawing/2014/main" id="{895466C7-462E-4CB1-9692-01FF429B97EF}"/>
              </a:ext>
            </a:extLst>
          </p:cNvPr>
          <p:cNvCxnSpPr>
            <a:cxnSpLocks/>
          </p:cNvCxnSpPr>
          <p:nvPr/>
        </p:nvCxnSpPr>
        <p:spPr>
          <a:xfrm flipV="1">
            <a:off x="8959497" y="3570819"/>
            <a:ext cx="0" cy="12574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93A28465-93F3-4410-B7CB-CF10FA24685D}"/>
              </a:ext>
            </a:extLst>
          </p:cNvPr>
          <p:cNvCxnSpPr>
            <a:cxnSpLocks/>
          </p:cNvCxnSpPr>
          <p:nvPr/>
        </p:nvCxnSpPr>
        <p:spPr>
          <a:xfrm flipV="1">
            <a:off x="8959497" y="4000675"/>
            <a:ext cx="892048" cy="820000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F66E85E1-3810-4A1B-BFD9-995E622A9470}"/>
              </a:ext>
            </a:extLst>
          </p:cNvPr>
          <p:cNvCxnSpPr>
            <a:cxnSpLocks/>
          </p:cNvCxnSpPr>
          <p:nvPr/>
        </p:nvCxnSpPr>
        <p:spPr>
          <a:xfrm flipH="1" flipV="1">
            <a:off x="8059493" y="3925340"/>
            <a:ext cx="900004" cy="895335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1B68D223-0C20-44E2-9D3D-C0662FADA9C7}"/>
              </a:ext>
            </a:extLst>
          </p:cNvPr>
          <p:cNvCxnSpPr>
            <a:cxnSpLocks/>
          </p:cNvCxnSpPr>
          <p:nvPr/>
        </p:nvCxnSpPr>
        <p:spPr>
          <a:xfrm flipH="1" flipV="1">
            <a:off x="10168738" y="2722172"/>
            <a:ext cx="281923" cy="76001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CD790A66-30DA-450B-92DE-BB3784302800}"/>
              </a:ext>
            </a:extLst>
          </p:cNvPr>
          <p:cNvCxnSpPr>
            <a:cxnSpLocks/>
          </p:cNvCxnSpPr>
          <p:nvPr/>
        </p:nvCxnSpPr>
        <p:spPr>
          <a:xfrm flipH="1">
            <a:off x="9618484" y="3457669"/>
            <a:ext cx="840068" cy="379829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5C27B155-478E-42B5-92BD-0F80D8753EE3}"/>
              </a:ext>
            </a:extLst>
          </p:cNvPr>
          <p:cNvCxnSpPr>
            <a:cxnSpLocks/>
          </p:cNvCxnSpPr>
          <p:nvPr/>
        </p:nvCxnSpPr>
        <p:spPr>
          <a:xfrm flipH="1">
            <a:off x="9638951" y="1997414"/>
            <a:ext cx="277117" cy="60466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DE990B83-4640-4FA0-AD3F-9CDF4B91AD9A}"/>
              </a:ext>
            </a:extLst>
          </p:cNvPr>
          <p:cNvCxnSpPr>
            <a:cxnSpLocks/>
          </p:cNvCxnSpPr>
          <p:nvPr/>
        </p:nvCxnSpPr>
        <p:spPr>
          <a:xfrm flipH="1" flipV="1">
            <a:off x="9128345" y="1716040"/>
            <a:ext cx="767855" cy="29285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FAB26B3-219B-4F28-91FD-E24EBB161C50}"/>
              </a:ext>
            </a:extLst>
          </p:cNvPr>
          <p:cNvCxnSpPr>
            <a:cxnSpLocks/>
          </p:cNvCxnSpPr>
          <p:nvPr/>
        </p:nvCxnSpPr>
        <p:spPr>
          <a:xfrm flipH="1">
            <a:off x="8555369" y="1576117"/>
            <a:ext cx="277118" cy="604663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2D85BA46-DA3B-4302-BEF8-618361DE8118}"/>
              </a:ext>
            </a:extLst>
          </p:cNvPr>
          <p:cNvCxnSpPr>
            <a:cxnSpLocks/>
          </p:cNvCxnSpPr>
          <p:nvPr/>
        </p:nvCxnSpPr>
        <p:spPr>
          <a:xfrm flipH="1" flipV="1">
            <a:off x="8173959" y="1331800"/>
            <a:ext cx="638660" cy="255795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C4FD8581-E255-4AB6-B874-D67D5937793C}"/>
              </a:ext>
            </a:extLst>
          </p:cNvPr>
          <p:cNvSpPr txBox="1"/>
          <p:nvPr/>
        </p:nvSpPr>
        <p:spPr>
          <a:xfrm>
            <a:off x="7912378" y="5309771"/>
            <a:ext cx="3199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dirty="0"/>
              <a:t>Link Frame Assignment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467ED7F3-B692-47EC-B43C-6F711C87E6B6}"/>
                  </a:ext>
                </a:extLst>
              </p:cNvPr>
              <p:cNvSpPr txBox="1"/>
              <p:nvPr/>
            </p:nvSpPr>
            <p:spPr>
              <a:xfrm>
                <a:off x="9071313" y="4879139"/>
                <a:ext cx="864096" cy="3470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𝑓𝑖𝑥𝑒𝑑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90" name="TextBox 189">
                <a:extLst>
                  <a:ext uri="{FF2B5EF4-FFF2-40B4-BE49-F238E27FC236}">
                    <a16:creationId xmlns:a16="http://schemas.microsoft.com/office/drawing/2014/main" id="{467ED7F3-B692-47EC-B43C-6F711C87E6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313" y="4879139"/>
                <a:ext cx="864096" cy="347018"/>
              </a:xfrm>
              <a:prstGeom prst="rect">
                <a:avLst/>
              </a:prstGeom>
              <a:blipFill>
                <a:blip r:embed="rId3"/>
                <a:stretch>
                  <a:fillRect b="-87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FE65243-BCEF-4913-889F-87219A79188D}"/>
                  </a:ext>
                </a:extLst>
              </p:cNvPr>
              <p:cNvSpPr txBox="1"/>
              <p:nvPr/>
            </p:nvSpPr>
            <p:spPr>
              <a:xfrm>
                <a:off x="8052516" y="4718205"/>
                <a:ext cx="864096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92" name="TextBox 191">
                <a:extLst>
                  <a:ext uri="{FF2B5EF4-FFF2-40B4-BE49-F238E27FC236}">
                    <a16:creationId xmlns:a16="http://schemas.microsoft.com/office/drawing/2014/main" id="{BFE65243-BCEF-4913-889F-87219A791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516" y="4718205"/>
                <a:ext cx="864096" cy="313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4C0BC9C0-E8CE-4C00-890F-4E6150B9F906}"/>
                  </a:ext>
                </a:extLst>
              </p:cNvPr>
              <p:cNvSpPr txBox="1"/>
              <p:nvPr/>
            </p:nvSpPr>
            <p:spPr>
              <a:xfrm>
                <a:off x="10228640" y="3436710"/>
                <a:ext cx="864096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93" name="TextBox 192">
                <a:extLst>
                  <a:ext uri="{FF2B5EF4-FFF2-40B4-BE49-F238E27FC236}">
                    <a16:creationId xmlns:a16="http://schemas.microsoft.com/office/drawing/2014/main" id="{4C0BC9C0-E8CE-4C00-890F-4E6150B9F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8640" y="3436710"/>
                <a:ext cx="864096" cy="3139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843890C-6DC3-4268-B110-F5C76D2E4FA5}"/>
                  </a:ext>
                </a:extLst>
              </p:cNvPr>
              <p:cNvSpPr txBox="1"/>
              <p:nvPr/>
            </p:nvSpPr>
            <p:spPr>
              <a:xfrm>
                <a:off x="9784738" y="1846264"/>
                <a:ext cx="864096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C843890C-6DC3-4268-B110-F5C76D2E4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84738" y="1846264"/>
                <a:ext cx="864096" cy="3139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22E6C82F-8C88-464D-A0C3-8CFA37DDA35B}"/>
                  </a:ext>
                </a:extLst>
              </p:cNvPr>
              <p:cNvSpPr txBox="1"/>
              <p:nvPr/>
            </p:nvSpPr>
            <p:spPr>
              <a:xfrm>
                <a:off x="8261880" y="1174833"/>
                <a:ext cx="864096" cy="313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IN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</m:e>
                            <m:sub>
                              <m:r>
                                <a:rPr lang="en-IN" sz="1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16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22E6C82F-8C88-464D-A0C3-8CFA37DDA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1880" y="1174833"/>
                <a:ext cx="864096" cy="3139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6" name="Table 196">
                <a:extLst>
                  <a:ext uri="{FF2B5EF4-FFF2-40B4-BE49-F238E27FC236}">
                    <a16:creationId xmlns:a16="http://schemas.microsoft.com/office/drawing/2014/main" id="{63A68734-C62A-4492-A33E-C3AF9D1D8A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834684"/>
                  </p:ext>
                </p:extLst>
              </p:nvPr>
            </p:nvGraphicFramePr>
            <p:xfrm>
              <a:off x="791013" y="1317119"/>
              <a:ext cx="5993340" cy="214055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11350">
                      <a:extLst>
                        <a:ext uri="{9D8B030D-6E8A-4147-A177-3AD203B41FA5}">
                          <a16:colId xmlns:a16="http://schemas.microsoft.com/office/drawing/2014/main" val="3047550339"/>
                        </a:ext>
                      </a:extLst>
                    </a:gridCol>
                    <a:gridCol w="1485986">
                      <a:extLst>
                        <a:ext uri="{9D8B030D-6E8A-4147-A177-3AD203B41FA5}">
                          <a16:colId xmlns:a16="http://schemas.microsoft.com/office/drawing/2014/main" val="3398531733"/>
                        </a:ext>
                      </a:extLst>
                    </a:gridCol>
                    <a:gridCol w="1198668">
                      <a:extLst>
                        <a:ext uri="{9D8B030D-6E8A-4147-A177-3AD203B41FA5}">
                          <a16:colId xmlns:a16="http://schemas.microsoft.com/office/drawing/2014/main" val="3977776053"/>
                        </a:ext>
                      </a:extLst>
                    </a:gridCol>
                    <a:gridCol w="1198668">
                      <a:extLst>
                        <a:ext uri="{9D8B030D-6E8A-4147-A177-3AD203B41FA5}">
                          <a16:colId xmlns:a16="http://schemas.microsoft.com/office/drawing/2014/main" val="473774923"/>
                        </a:ext>
                      </a:extLst>
                    </a:gridCol>
                    <a:gridCol w="1198668">
                      <a:extLst>
                        <a:ext uri="{9D8B030D-6E8A-4147-A177-3AD203B41FA5}">
                          <a16:colId xmlns:a16="http://schemas.microsoft.com/office/drawing/2014/main" val="652652416"/>
                        </a:ext>
                      </a:extLst>
                    </a:gridCol>
                  </a:tblGrid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i="1" dirty="0" err="1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en-IN" i="1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α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𝒅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40913441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19613410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11213519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ϴ</m:t>
                                    </m:r>
                                  </m:e>
                                  <m:sub>
                                    <m:r>
                                      <a:rPr lang="en-IN" b="1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04668858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636481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6" name="Table 196">
                <a:extLst>
                  <a:ext uri="{FF2B5EF4-FFF2-40B4-BE49-F238E27FC236}">
                    <a16:creationId xmlns:a16="http://schemas.microsoft.com/office/drawing/2014/main" id="{63A68734-C62A-4492-A33E-C3AF9D1D8A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2834684"/>
                  </p:ext>
                </p:extLst>
              </p:nvPr>
            </p:nvGraphicFramePr>
            <p:xfrm>
              <a:off x="791013" y="1317119"/>
              <a:ext cx="5993340" cy="2140550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911350">
                      <a:extLst>
                        <a:ext uri="{9D8B030D-6E8A-4147-A177-3AD203B41FA5}">
                          <a16:colId xmlns:a16="http://schemas.microsoft.com/office/drawing/2014/main" val="3047550339"/>
                        </a:ext>
                      </a:extLst>
                    </a:gridCol>
                    <a:gridCol w="1485986">
                      <a:extLst>
                        <a:ext uri="{9D8B030D-6E8A-4147-A177-3AD203B41FA5}">
                          <a16:colId xmlns:a16="http://schemas.microsoft.com/office/drawing/2014/main" val="3398531733"/>
                        </a:ext>
                      </a:extLst>
                    </a:gridCol>
                    <a:gridCol w="1198668">
                      <a:extLst>
                        <a:ext uri="{9D8B030D-6E8A-4147-A177-3AD203B41FA5}">
                          <a16:colId xmlns:a16="http://schemas.microsoft.com/office/drawing/2014/main" val="3977776053"/>
                        </a:ext>
                      </a:extLst>
                    </a:gridCol>
                    <a:gridCol w="1198668">
                      <a:extLst>
                        <a:ext uri="{9D8B030D-6E8A-4147-A177-3AD203B41FA5}">
                          <a16:colId xmlns:a16="http://schemas.microsoft.com/office/drawing/2014/main" val="473774923"/>
                        </a:ext>
                      </a:extLst>
                    </a:gridCol>
                    <a:gridCol w="1198668">
                      <a:extLst>
                        <a:ext uri="{9D8B030D-6E8A-4147-A177-3AD203B41FA5}">
                          <a16:colId xmlns:a16="http://schemas.microsoft.com/office/drawing/2014/main" val="652652416"/>
                        </a:ext>
                      </a:extLst>
                    </a:gridCol>
                  </a:tblGrid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i="1" dirty="0" err="1">
                              <a:solidFill>
                                <a:sysClr val="windowText" lastClr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endParaRPr lang="en-IN" i="1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61475" t="-7143" r="-242213" b="-4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1020" t="-7143" r="-201531" b="-4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99492" t="-7143" r="-100508" b="-40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9492" t="-7143" r="-508" b="-40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0913441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9492" t="-105634" r="-508" b="-3028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9613410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1020" t="-208571" r="-201531" b="-20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9492" t="-208571" r="-508" b="-20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1213519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1020" t="-304225" r="-201531" b="-1042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399492" t="-304225" r="-508" b="-1042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4668858"/>
                      </a:ext>
                    </a:extLst>
                  </a:tr>
                  <a:tr h="42811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8"/>
                          <a:stretch>
                            <a:fillRect l="-201020" t="-410000" r="-201531" b="-5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N" dirty="0">
                              <a:solidFill>
                                <a:sysClr val="windowText" lastClr="00000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0636481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B8F04B4A-26F9-4E92-B253-A90056EFA18B}"/>
                  </a:ext>
                </a:extLst>
              </p:cNvPr>
              <p:cNvSpPr txBox="1"/>
              <p:nvPr/>
            </p:nvSpPr>
            <p:spPr>
              <a:xfrm>
                <a:off x="4717956" y="3674103"/>
                <a:ext cx="5591743" cy="18807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2000" dirty="0"/>
                  <a:t>→ Link twists</a:t>
                </a: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2000" dirty="0"/>
                  <a:t>→ Link lengths</a:t>
                </a: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N" sz="2000" dirty="0"/>
                  <a:t>  → Link offsets</a:t>
                </a:r>
              </a:p>
              <a:p>
                <a:pPr marL="342900" indent="-342900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0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0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N" sz="2000" dirty="0"/>
                  <a:t>  → Joint angles </a:t>
                </a:r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B8F04B4A-26F9-4E92-B253-A90056EFA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956" y="3674103"/>
                <a:ext cx="5591743" cy="1880771"/>
              </a:xfrm>
              <a:prstGeom prst="rect">
                <a:avLst/>
              </a:prstGeom>
              <a:blipFill>
                <a:blip r:embed="rId12"/>
                <a:stretch>
                  <a:fillRect l="-1091" b="-584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B022827-68B7-4D7D-BD96-46ED8F257C16}"/>
                  </a:ext>
                </a:extLst>
              </p:cNvPr>
              <p:cNvSpPr txBox="1"/>
              <p:nvPr/>
            </p:nvSpPr>
            <p:spPr>
              <a:xfrm>
                <a:off x="269672" y="3672117"/>
                <a:ext cx="4393681" cy="21746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𝑓𝑖𝑥𝑒𝑑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→ Reference frame</a:t>
                </a:r>
              </a:p>
              <a:p>
                <a:pPr marL="342900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,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/>
                  <a:t>→ Intermediate frames</a:t>
                </a:r>
              </a:p>
              <a:p>
                <a:pPr marL="342900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dirty="0"/>
                  <a:t>→ Tip or End-Effector frame</a:t>
                </a:r>
              </a:p>
              <a:p>
                <a:pPr marL="342900" indent="-342900" algn="just">
                  <a:lnSpc>
                    <a:spcPct val="150000"/>
                  </a:lnSpc>
                  <a:buFont typeface="Courier New" panose="02070309020205020404" pitchFamily="49" charset="0"/>
                  <a:buChar char="o"/>
                </a:pPr>
                <a:endParaRPr lang="en-IN" dirty="0"/>
              </a:p>
            </p:txBody>
          </p:sp>
        </mc:Choice>
        <mc:Fallback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3B022827-68B7-4D7D-BD96-46ED8F257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72" y="3672117"/>
                <a:ext cx="4393681" cy="2174634"/>
              </a:xfrm>
              <a:prstGeom prst="rect">
                <a:avLst/>
              </a:prstGeom>
              <a:blipFill>
                <a:blip r:embed="rId13"/>
                <a:stretch>
                  <a:fillRect l="-971" r="-12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5" name="TextBox 204">
            <a:extLst>
              <a:ext uri="{FF2B5EF4-FFF2-40B4-BE49-F238E27FC236}">
                <a16:creationId xmlns:a16="http://schemas.microsoft.com/office/drawing/2014/main" id="{70194544-6F82-49DA-A4EF-97AEA51C86DA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8D22C4-DD90-4A6D-8D59-64324D881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194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2674032" y="94488"/>
            <a:ext cx="684076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Transformation of frames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D3245F-458A-408A-AA13-EDF8945618B1}"/>
                  </a:ext>
                </a:extLst>
              </p:cNvPr>
              <p:cNvSpPr txBox="1"/>
              <p:nvPr/>
            </p:nvSpPr>
            <p:spPr>
              <a:xfrm>
                <a:off x="837828" y="985967"/>
                <a:ext cx="8064896" cy="49045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Pre>
                      <m:sPre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sPre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Screw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IN" sz="2400" b="1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Screw</m:t>
                        </m:r>
                      </m:e>
                      <m:sub>
                        <m:r>
                          <a:rPr lang="en-IN" sz="2400" b="0" i="1" dirty="0" smtClean="0">
                            <a:latin typeface="Cambria Math" panose="02040503050406030204" pitchFamily="18" charset="0"/>
                          </a:rPr>
                          <m:t>𝑍</m:t>
                        </m:r>
                      </m:sub>
                    </m:sSub>
                    <m:r>
                      <a:rPr lang="en-I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IN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1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IN" sz="2400" dirty="0"/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IN" sz="2400" b="1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IN" sz="2400" b="1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2400" b="1" dirty="0">
                  <a:solidFill>
                    <a:sysClr val="windowText" lastClr="000000"/>
                  </a:solidFill>
                </a:endParaRPr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>
                  <a:lnSpc>
                    <a:spcPct val="90000"/>
                  </a:lnSpc>
                </a:pPr>
                <a:endParaRPr lang="en-IN" sz="2400" dirty="0"/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Pre>
                      <m:sPre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sPre>
                  </m:oMath>
                </a14:m>
                <a:r>
                  <a:rPr lang="en-IN" sz="2400" dirty="0"/>
                  <a:t> =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sPre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sPre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sPre>
                  </m:oMath>
                </a14:m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PrePr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</m:e>
                    </m:sPre>
                  </m:oMath>
                </a14:m>
                <a:r>
                  <a:rPr lang="en-IN" sz="2400" dirty="0"/>
                  <a:t> </a:t>
                </a:r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 marL="342900" indent="-342900">
                  <a:lnSpc>
                    <a:spcPct val="90000"/>
                  </a:lnSpc>
                  <a:buFont typeface="Wingdings" panose="05000000000000000000" pitchFamily="2" charset="2"/>
                  <a:buChar char="q"/>
                </a:pPr>
                <a:endParaRPr lang="en-IN" sz="2400" dirty="0"/>
              </a:p>
              <a:p>
                <a:pPr>
                  <a:lnSpc>
                    <a:spcPct val="90000"/>
                  </a:lnSpc>
                </a:pPr>
                <a:endParaRPr lang="en-IN" sz="2400" dirty="0"/>
              </a:p>
              <a:p>
                <a:pPr>
                  <a:lnSpc>
                    <a:spcPct val="90000"/>
                  </a:lnSpc>
                </a:pPr>
                <a:r>
                  <a:rPr lang="en-IN" sz="2400" dirty="0"/>
                  <a:t>       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Pre>
                                    <m:sPrePr>
                                      <m:ctrlP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PrePr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  <m: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p>
                                    <m:e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</m:d>
                                    </m:e>
                                  </m:sPre>
                                </m:e>
                                <m:sub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IN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Pre>
                                        <m:sPrePr>
                                          <m:ctrlP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PrePr>
                                        <m:sub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4</m:t>
                                          </m:r>
                                        </m:sub>
                                        <m:sup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p>
                                        <m:e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</m:sPre>
                                    </m:e>
                                  </m:acc>
                                </m:e>
                                <m:sub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sub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I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CD3245F-458A-408A-AA13-EDF894561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828" y="985967"/>
                <a:ext cx="8064896" cy="4904548"/>
              </a:xfrm>
              <a:prstGeom prst="rect">
                <a:avLst/>
              </a:prstGeom>
              <a:blipFill>
                <a:blip r:embed="rId2"/>
                <a:stretch>
                  <a:fillRect t="-149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CD092C0-2C37-4042-BAD1-C5729051949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56"/>
          <a:stretch/>
        </p:blipFill>
        <p:spPr>
          <a:xfrm>
            <a:off x="2061964" y="1453991"/>
            <a:ext cx="7181395" cy="14856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DD9EE1-5FDE-4767-834D-495161EB99E8}"/>
                  </a:ext>
                </a:extLst>
              </p:cNvPr>
              <p:cNvSpPr txBox="1"/>
              <p:nvPr/>
            </p:nvSpPr>
            <p:spPr>
              <a:xfrm>
                <a:off x="5302324" y="5028944"/>
                <a:ext cx="6732748" cy="11675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Pre>
                          <m:sPre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  <m:sup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</m:d>
                          </m:e>
                        </m:sPre>
                      </m:e>
                      <m:sub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IN" dirty="0"/>
                  <a:t>, represents orientation of tip w.r.t. fixed base</a:t>
                </a:r>
              </a:p>
              <a:p>
                <a:pPr algn="just">
                  <a:lnSpc>
                    <a:spcPct val="90000"/>
                  </a:lnSpc>
                </a:pPr>
                <a:endParaRPr lang="en-IN" dirty="0"/>
              </a:p>
              <a:p>
                <a:pPr marL="342900" indent="-342900" algn="just">
                  <a:lnSpc>
                    <a:spcPct val="9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IN" sz="18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Pre>
                              <m:sPrePr>
                                <m:ctrlPr>
                                  <a:rPr lang="en-IN" sz="1800" i="1">
                                    <a:latin typeface="Cambria Math" panose="02040503050406030204" pitchFamily="18" charset="0"/>
                                  </a:rPr>
                                </m:ctrlPr>
                              </m:sPrePr>
                              <m:sub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  <m:sup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p>
                              <m:e>
                                <m:r>
                                  <a:rPr lang="en-IN" sz="18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sPre>
                          </m:e>
                        </m:acc>
                      </m:e>
                      <m:sub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IN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, represents the position  of tip/end effector w.r.t. fixed base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2DD9EE1-5FDE-4767-834D-495161EB9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324" y="5028944"/>
                <a:ext cx="6732748" cy="1167564"/>
              </a:xfrm>
              <a:prstGeom prst="rect">
                <a:avLst/>
              </a:prstGeom>
              <a:blipFill>
                <a:blip r:embed="rId4"/>
                <a:stretch>
                  <a:fillRect l="-634" t="-5759" r="-725" b="-733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F8E5AA8-7A03-404E-AD4C-40E7BD1239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7988" y="3502769"/>
            <a:ext cx="2286198" cy="1211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951921-87D2-4E5A-83F8-40E975C55D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8407" y="3502769"/>
            <a:ext cx="2432110" cy="1238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262878-2569-41F6-BE08-54764A9D91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38" y="3568649"/>
            <a:ext cx="2331922" cy="12452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B6EB3A-6E59-4BD2-BFBF-BFFE444362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06412" y="3612679"/>
            <a:ext cx="1332148" cy="11432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9148782-6724-4202-AF3C-26FCA469AA94}"/>
              </a:ext>
            </a:extLst>
          </p:cNvPr>
          <p:cNvSpPr txBox="1"/>
          <p:nvPr/>
        </p:nvSpPr>
        <p:spPr>
          <a:xfrm>
            <a:off x="1989956" y="3881730"/>
            <a:ext cx="108012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/>
              <a:t>=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80CD2E-D552-46E7-8705-E283AF31BFEA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9F8925-50FD-442C-8B0B-6AE917E6AEA5}"/>
              </a:ext>
            </a:extLst>
          </p:cNvPr>
          <p:cNvSpPr txBox="1"/>
          <p:nvPr/>
        </p:nvSpPr>
        <p:spPr>
          <a:xfrm>
            <a:off x="4438228" y="5742730"/>
            <a:ext cx="1170186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1400" b="1" dirty="0"/>
              <a:t>4 X 4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B4F459-1B68-4F76-A7F4-BD30625BBCE0}"/>
              </a:ext>
            </a:extLst>
          </p:cNvPr>
          <p:cNvCxnSpPr>
            <a:cxnSpLocks/>
          </p:cNvCxnSpPr>
          <p:nvPr/>
        </p:nvCxnSpPr>
        <p:spPr>
          <a:xfrm>
            <a:off x="3502124" y="5028944"/>
            <a:ext cx="0" cy="77632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33D3F37-AC24-4D37-9E90-6CD3EF87E3FB}"/>
              </a:ext>
            </a:extLst>
          </p:cNvPr>
          <p:cNvCxnSpPr>
            <a:cxnSpLocks/>
          </p:cNvCxnSpPr>
          <p:nvPr/>
        </p:nvCxnSpPr>
        <p:spPr>
          <a:xfrm>
            <a:off x="2541034" y="5493801"/>
            <a:ext cx="1776073" cy="12679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DF80-F7AA-45C2-B67E-A31BAD43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750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63A0A42-A2FC-4CB4-B39F-7AA7E66D0922}"/>
              </a:ext>
            </a:extLst>
          </p:cNvPr>
          <p:cNvCxnSpPr>
            <a:cxnSpLocks/>
          </p:cNvCxnSpPr>
          <p:nvPr/>
        </p:nvCxnSpPr>
        <p:spPr>
          <a:xfrm flipH="1">
            <a:off x="10636453" y="2529786"/>
            <a:ext cx="205630" cy="2224379"/>
          </a:xfrm>
          <a:prstGeom prst="line">
            <a:avLst/>
          </a:prstGeom>
          <a:ln w="28575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FB0B4C52-C9BF-4179-BC27-1F720C30D3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583"/>
          <a:stretch/>
        </p:blipFill>
        <p:spPr>
          <a:xfrm rot="4361979">
            <a:off x="2918008" y="2371175"/>
            <a:ext cx="1236783" cy="881844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3CFAE6F-C452-4323-8EE1-2AAC20944738}"/>
              </a:ext>
            </a:extLst>
          </p:cNvPr>
          <p:cNvCxnSpPr>
            <a:cxnSpLocks/>
          </p:cNvCxnSpPr>
          <p:nvPr/>
        </p:nvCxnSpPr>
        <p:spPr>
          <a:xfrm flipV="1">
            <a:off x="2486114" y="4213851"/>
            <a:ext cx="1200463" cy="44235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C9366E-39C0-40FC-848D-826CB7B5E121}"/>
              </a:ext>
            </a:extLst>
          </p:cNvPr>
          <p:cNvCxnSpPr>
            <a:stCxn id="10" idx="2"/>
          </p:cNvCxnSpPr>
          <p:nvPr/>
        </p:nvCxnSpPr>
        <p:spPr>
          <a:xfrm flipV="1">
            <a:off x="515241" y="5357194"/>
            <a:ext cx="202414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4D26046-7EE3-4EB7-BFBD-9EF3F292F52F}"/>
              </a:ext>
            </a:extLst>
          </p:cNvPr>
          <p:cNvSpPr/>
          <p:nvPr/>
        </p:nvSpPr>
        <p:spPr>
          <a:xfrm>
            <a:off x="451154" y="5216837"/>
            <a:ext cx="277232" cy="4247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2674032" y="94566"/>
            <a:ext cx="684076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Inverse Kinematics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59E14C-036F-4A0E-B63F-CB130F28F0DE}"/>
              </a:ext>
            </a:extLst>
          </p:cNvPr>
          <p:cNvSpPr/>
          <p:nvPr/>
        </p:nvSpPr>
        <p:spPr>
          <a:xfrm rot="4203847">
            <a:off x="1450634" y="3981595"/>
            <a:ext cx="134035" cy="20671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A81A70-5BE9-46B2-83DE-7E4D100BEE3D}"/>
              </a:ext>
            </a:extLst>
          </p:cNvPr>
          <p:cNvSpPr/>
          <p:nvPr/>
        </p:nvSpPr>
        <p:spPr>
          <a:xfrm rot="2181168">
            <a:off x="2826796" y="3287152"/>
            <a:ext cx="133200" cy="15957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9B5C48E-03C2-431C-ABF2-3CF5EDF8FCE7}"/>
              </a:ext>
            </a:extLst>
          </p:cNvPr>
          <p:cNvSpPr/>
          <p:nvPr/>
        </p:nvSpPr>
        <p:spPr>
          <a:xfrm>
            <a:off x="2368126" y="4608072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4AEB4A3-8DDF-457C-BD03-94E11D7C1E9C}"/>
              </a:ext>
            </a:extLst>
          </p:cNvPr>
          <p:cNvSpPr/>
          <p:nvPr/>
        </p:nvSpPr>
        <p:spPr>
          <a:xfrm>
            <a:off x="3275951" y="3376497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061078-20E8-44B1-9AE2-34CF410E988E}"/>
              </a:ext>
            </a:extLst>
          </p:cNvPr>
          <p:cNvSpPr/>
          <p:nvPr/>
        </p:nvSpPr>
        <p:spPr>
          <a:xfrm>
            <a:off x="515241" y="5285186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5DA479-6865-4D12-83D4-1C76EA655F37}"/>
              </a:ext>
            </a:extLst>
          </p:cNvPr>
          <p:cNvCxnSpPr>
            <a:stCxn id="11" idx="2"/>
          </p:cNvCxnSpPr>
          <p:nvPr/>
        </p:nvCxnSpPr>
        <p:spPr>
          <a:xfrm flipH="1">
            <a:off x="451154" y="5641569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6B347DB-C236-42E3-B15B-66E1EB4193B6}"/>
              </a:ext>
            </a:extLst>
          </p:cNvPr>
          <p:cNvCxnSpPr/>
          <p:nvPr/>
        </p:nvCxnSpPr>
        <p:spPr>
          <a:xfrm flipH="1">
            <a:off x="520641" y="5651788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BBEC1F3-C194-4564-96EF-4603B109F410}"/>
              </a:ext>
            </a:extLst>
          </p:cNvPr>
          <p:cNvCxnSpPr/>
          <p:nvPr/>
        </p:nvCxnSpPr>
        <p:spPr>
          <a:xfrm flipH="1">
            <a:off x="356888" y="5651788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EC87988-90A0-46EF-BD34-33D0D5FC99F1}"/>
              </a:ext>
            </a:extLst>
          </p:cNvPr>
          <p:cNvCxnSpPr/>
          <p:nvPr/>
        </p:nvCxnSpPr>
        <p:spPr>
          <a:xfrm flipH="1">
            <a:off x="589949" y="5651788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ABB9594-B6D1-4597-B75A-476BEB0FD80D}"/>
              </a:ext>
            </a:extLst>
          </p:cNvPr>
          <p:cNvCxnSpPr>
            <a:cxnSpLocks/>
          </p:cNvCxnSpPr>
          <p:nvPr/>
        </p:nvCxnSpPr>
        <p:spPr>
          <a:xfrm flipV="1">
            <a:off x="3331474" y="2745598"/>
            <a:ext cx="529742" cy="76019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7A20502-1883-4B6F-99CA-7C149CE62BA5}"/>
              </a:ext>
            </a:extLst>
          </p:cNvPr>
          <p:cNvCxnSpPr>
            <a:cxnSpLocks/>
          </p:cNvCxnSpPr>
          <p:nvPr/>
        </p:nvCxnSpPr>
        <p:spPr>
          <a:xfrm flipV="1">
            <a:off x="457911" y="4411436"/>
            <a:ext cx="1840410" cy="731248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7BC44FE-9A3E-42B8-95FB-79F3C51B89CC}"/>
              </a:ext>
            </a:extLst>
          </p:cNvPr>
          <p:cNvCxnSpPr>
            <a:cxnSpLocks/>
          </p:cNvCxnSpPr>
          <p:nvPr/>
        </p:nvCxnSpPr>
        <p:spPr>
          <a:xfrm flipV="1">
            <a:off x="2323334" y="3347314"/>
            <a:ext cx="788024" cy="1086437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68D9A9-BF7C-43A5-A3FE-87566CEF26C8}"/>
                  </a:ext>
                </a:extLst>
              </p:cNvPr>
              <p:cNvSpPr txBox="1"/>
              <p:nvPr/>
            </p:nvSpPr>
            <p:spPr>
              <a:xfrm>
                <a:off x="1073012" y="4366552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268D9A9-BF7C-43A5-A3FE-87566CEF2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12" y="4366552"/>
                <a:ext cx="504056" cy="341632"/>
              </a:xfrm>
              <a:prstGeom prst="rect">
                <a:avLst/>
              </a:prstGeom>
              <a:blipFill>
                <a:blip r:embed="rId3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1F14B7F-2DBB-4C45-A02A-928FEC8FFDFD}"/>
                  </a:ext>
                </a:extLst>
              </p:cNvPr>
              <p:cNvSpPr txBox="1"/>
              <p:nvPr/>
            </p:nvSpPr>
            <p:spPr>
              <a:xfrm>
                <a:off x="2315625" y="3563157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1F14B7F-2DBB-4C45-A02A-928FEC8FF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625" y="3563157"/>
                <a:ext cx="504056" cy="341632"/>
              </a:xfrm>
              <a:prstGeom prst="rect">
                <a:avLst/>
              </a:prstGeom>
              <a:blipFill>
                <a:blip r:embed="rId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Arc 58">
            <a:extLst>
              <a:ext uri="{FF2B5EF4-FFF2-40B4-BE49-F238E27FC236}">
                <a16:creationId xmlns:a16="http://schemas.microsoft.com/office/drawing/2014/main" id="{03754DC0-5026-4A88-9C1A-B2BF912B14C8}"/>
              </a:ext>
            </a:extLst>
          </p:cNvPr>
          <p:cNvSpPr/>
          <p:nvPr/>
        </p:nvSpPr>
        <p:spPr>
          <a:xfrm rot="1222931">
            <a:off x="862281" y="5023665"/>
            <a:ext cx="491583" cy="424732"/>
          </a:xfrm>
          <a:prstGeom prst="arc">
            <a:avLst>
              <a:gd name="adj1" fmla="val 19375703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Arc 59">
            <a:extLst>
              <a:ext uri="{FF2B5EF4-FFF2-40B4-BE49-F238E27FC236}">
                <a16:creationId xmlns:a16="http://schemas.microsoft.com/office/drawing/2014/main" id="{5F531BA1-40B9-4941-BA8D-0FA8EA686ACD}"/>
              </a:ext>
            </a:extLst>
          </p:cNvPr>
          <p:cNvSpPr/>
          <p:nvPr/>
        </p:nvSpPr>
        <p:spPr>
          <a:xfrm>
            <a:off x="2581947" y="4231478"/>
            <a:ext cx="491583" cy="424732"/>
          </a:xfrm>
          <a:prstGeom prst="arc">
            <a:avLst>
              <a:gd name="adj1" fmla="val 17056124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2C8A38B-4BC4-4A15-9832-6B20D866E5E2}"/>
                  </a:ext>
                </a:extLst>
              </p:cNvPr>
              <p:cNvSpPr txBox="1"/>
              <p:nvPr/>
            </p:nvSpPr>
            <p:spPr>
              <a:xfrm>
                <a:off x="3018935" y="3982977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12C8A38B-4BC4-4A15-9832-6B20D866E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935" y="3982977"/>
                <a:ext cx="504056" cy="341632"/>
              </a:xfrm>
              <a:prstGeom prst="rect">
                <a:avLst/>
              </a:prstGeom>
              <a:blipFill>
                <a:blip r:embed="rId5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0128B4A-B6FA-4B2E-AEC7-5DD1574F9978}"/>
                  </a:ext>
                </a:extLst>
              </p:cNvPr>
              <p:cNvSpPr txBox="1"/>
              <p:nvPr/>
            </p:nvSpPr>
            <p:spPr>
              <a:xfrm>
                <a:off x="1962497" y="5015562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30128B4A-B6FA-4B2E-AEC7-5DD1574F9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497" y="5015562"/>
                <a:ext cx="504056" cy="341632"/>
              </a:xfrm>
              <a:prstGeom prst="rect">
                <a:avLst/>
              </a:prstGeom>
              <a:blipFill>
                <a:blip r:embed="rId6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TextBox 64">
            <a:extLst>
              <a:ext uri="{FF2B5EF4-FFF2-40B4-BE49-F238E27FC236}">
                <a16:creationId xmlns:a16="http://schemas.microsoft.com/office/drawing/2014/main" id="{AE344B25-47D5-46ED-8967-5E89B6941E85}"/>
              </a:ext>
            </a:extLst>
          </p:cNvPr>
          <p:cNvSpPr txBox="1"/>
          <p:nvPr/>
        </p:nvSpPr>
        <p:spPr>
          <a:xfrm>
            <a:off x="333772" y="5843539"/>
            <a:ext cx="253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dirty="0"/>
              <a:t>Kinematic diagram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93711A7-644C-47D8-9539-CA3A8F4DB2EE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100" name="Arc 99">
            <a:extLst>
              <a:ext uri="{FF2B5EF4-FFF2-40B4-BE49-F238E27FC236}">
                <a16:creationId xmlns:a16="http://schemas.microsoft.com/office/drawing/2014/main" id="{162965E2-9E20-468A-B5AC-7BE63203DC6C}"/>
              </a:ext>
            </a:extLst>
          </p:cNvPr>
          <p:cNvSpPr/>
          <p:nvPr/>
        </p:nvSpPr>
        <p:spPr>
          <a:xfrm rot="20898213">
            <a:off x="3254048" y="2776290"/>
            <a:ext cx="491583" cy="424732"/>
          </a:xfrm>
          <a:prstGeom prst="arc">
            <a:avLst>
              <a:gd name="adj1" fmla="val 17056122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2D8589E-A265-4E72-BC08-0A09E95BACC6}"/>
                  </a:ext>
                </a:extLst>
              </p:cNvPr>
              <p:cNvSpPr txBox="1"/>
              <p:nvPr/>
            </p:nvSpPr>
            <p:spPr>
              <a:xfrm>
                <a:off x="3636588" y="2393013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32D8589E-A265-4E72-BC08-0A09E95BAC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6588" y="2393013"/>
                <a:ext cx="504056" cy="341632"/>
              </a:xfrm>
              <a:prstGeom prst="rect">
                <a:avLst/>
              </a:prstGeom>
              <a:blipFill>
                <a:blip r:embed="rId7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9591863-B31D-44C4-8D7F-D811D8FB373F}"/>
              </a:ext>
            </a:extLst>
          </p:cNvPr>
          <p:cNvCxnSpPr>
            <a:cxnSpLocks/>
          </p:cNvCxnSpPr>
          <p:nvPr/>
        </p:nvCxnSpPr>
        <p:spPr>
          <a:xfrm flipV="1">
            <a:off x="3108713" y="2337689"/>
            <a:ext cx="64214" cy="1001306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4B81AEC-A146-4A13-A6B1-D9B4EF258313}"/>
                  </a:ext>
                </a:extLst>
              </p:cNvPr>
              <p:cNvSpPr txBox="1"/>
              <p:nvPr/>
            </p:nvSpPr>
            <p:spPr>
              <a:xfrm>
                <a:off x="2627995" y="2647024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74B81AEC-A146-4A13-A6B1-D9B4EF258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995" y="2647024"/>
                <a:ext cx="504056" cy="341632"/>
              </a:xfrm>
              <a:prstGeom prst="rect">
                <a:avLst/>
              </a:prstGeom>
              <a:blipFill>
                <a:blip r:embed="rId8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8" name="Picture 127">
            <a:extLst>
              <a:ext uri="{FF2B5EF4-FFF2-40B4-BE49-F238E27FC236}">
                <a16:creationId xmlns:a16="http://schemas.microsoft.com/office/drawing/2014/main" id="{7C786B11-68BF-42F0-8490-61C340F02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361979">
            <a:off x="6226923" y="2322147"/>
            <a:ext cx="1482661" cy="881844"/>
          </a:xfrm>
          <a:prstGeom prst="rect">
            <a:avLst/>
          </a:prstGeom>
        </p:spPr>
      </p:pic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5BE236D2-D344-4A34-9256-D4C88449344A}"/>
              </a:ext>
            </a:extLst>
          </p:cNvPr>
          <p:cNvCxnSpPr>
            <a:cxnSpLocks/>
          </p:cNvCxnSpPr>
          <p:nvPr/>
        </p:nvCxnSpPr>
        <p:spPr>
          <a:xfrm flipV="1">
            <a:off x="5954527" y="4282200"/>
            <a:ext cx="1200463" cy="44235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3A11CE6E-90AC-4B19-9537-88310FBAA3EB}"/>
              </a:ext>
            </a:extLst>
          </p:cNvPr>
          <p:cNvCxnSpPr>
            <a:cxnSpLocks/>
            <a:stCxn id="141" idx="2"/>
          </p:cNvCxnSpPr>
          <p:nvPr/>
        </p:nvCxnSpPr>
        <p:spPr>
          <a:xfrm flipV="1">
            <a:off x="3983654" y="5425543"/>
            <a:ext cx="3345975" cy="1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Rectangle 132">
            <a:extLst>
              <a:ext uri="{FF2B5EF4-FFF2-40B4-BE49-F238E27FC236}">
                <a16:creationId xmlns:a16="http://schemas.microsoft.com/office/drawing/2014/main" id="{2D4602E0-33CF-4B5E-A6D4-6E3C8D1446C2}"/>
              </a:ext>
            </a:extLst>
          </p:cNvPr>
          <p:cNvSpPr/>
          <p:nvPr/>
        </p:nvSpPr>
        <p:spPr>
          <a:xfrm>
            <a:off x="3919567" y="5285186"/>
            <a:ext cx="277232" cy="4247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02529A30-7D1B-4449-ACE9-FED3187E8B34}"/>
              </a:ext>
            </a:extLst>
          </p:cNvPr>
          <p:cNvSpPr/>
          <p:nvPr/>
        </p:nvSpPr>
        <p:spPr>
          <a:xfrm rot="4203847">
            <a:off x="4919047" y="4049944"/>
            <a:ext cx="134035" cy="20671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83F0F660-F684-43D9-B5D8-A9AF4F3D87A1}"/>
              </a:ext>
            </a:extLst>
          </p:cNvPr>
          <p:cNvSpPr/>
          <p:nvPr/>
        </p:nvSpPr>
        <p:spPr>
          <a:xfrm rot="2181168">
            <a:off x="6295209" y="3355501"/>
            <a:ext cx="133200" cy="15957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D9AD8B31-E17C-46B5-9578-E3FBEE3E5C67}"/>
              </a:ext>
            </a:extLst>
          </p:cNvPr>
          <p:cNvSpPr/>
          <p:nvPr/>
        </p:nvSpPr>
        <p:spPr>
          <a:xfrm>
            <a:off x="5836539" y="4676421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39" name="Oval 138">
            <a:extLst>
              <a:ext uri="{FF2B5EF4-FFF2-40B4-BE49-F238E27FC236}">
                <a16:creationId xmlns:a16="http://schemas.microsoft.com/office/drawing/2014/main" id="{02B20874-E525-4F47-8397-78929EA7B510}"/>
              </a:ext>
            </a:extLst>
          </p:cNvPr>
          <p:cNvSpPr/>
          <p:nvPr/>
        </p:nvSpPr>
        <p:spPr>
          <a:xfrm>
            <a:off x="6744364" y="3444846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41" name="Oval 140">
            <a:extLst>
              <a:ext uri="{FF2B5EF4-FFF2-40B4-BE49-F238E27FC236}">
                <a16:creationId xmlns:a16="http://schemas.microsoft.com/office/drawing/2014/main" id="{22D01B59-1AB6-496A-9306-DF6C5BB149BC}"/>
              </a:ext>
            </a:extLst>
          </p:cNvPr>
          <p:cNvSpPr/>
          <p:nvPr/>
        </p:nvSpPr>
        <p:spPr>
          <a:xfrm>
            <a:off x="3983654" y="5353535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425CEA60-BAC6-47B7-BA32-8306757BED50}"/>
              </a:ext>
            </a:extLst>
          </p:cNvPr>
          <p:cNvCxnSpPr>
            <a:stCxn id="133" idx="2"/>
          </p:cNvCxnSpPr>
          <p:nvPr/>
        </p:nvCxnSpPr>
        <p:spPr>
          <a:xfrm flipH="1">
            <a:off x="3919567" y="5709918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5362264F-4A96-4604-8A2C-C8511BB7DDA2}"/>
              </a:ext>
            </a:extLst>
          </p:cNvPr>
          <p:cNvCxnSpPr/>
          <p:nvPr/>
        </p:nvCxnSpPr>
        <p:spPr>
          <a:xfrm flipH="1">
            <a:off x="3989054" y="5720137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278A97B8-061D-4C65-ACA8-5EDD3FE73188}"/>
              </a:ext>
            </a:extLst>
          </p:cNvPr>
          <p:cNvCxnSpPr/>
          <p:nvPr/>
        </p:nvCxnSpPr>
        <p:spPr>
          <a:xfrm flipH="1">
            <a:off x="3825301" y="5720137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C15129AC-D17B-4C53-A483-7EA3383820A3}"/>
              </a:ext>
            </a:extLst>
          </p:cNvPr>
          <p:cNvCxnSpPr/>
          <p:nvPr/>
        </p:nvCxnSpPr>
        <p:spPr>
          <a:xfrm flipH="1">
            <a:off x="4058362" y="5720137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00907CA2-616B-457A-8998-FC9E9DD6F756}"/>
              </a:ext>
            </a:extLst>
          </p:cNvPr>
          <p:cNvCxnSpPr>
            <a:cxnSpLocks/>
          </p:cNvCxnSpPr>
          <p:nvPr/>
        </p:nvCxnSpPr>
        <p:spPr>
          <a:xfrm flipV="1">
            <a:off x="6799887" y="2813947"/>
            <a:ext cx="529742" cy="76019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Arc 154">
            <a:extLst>
              <a:ext uri="{FF2B5EF4-FFF2-40B4-BE49-F238E27FC236}">
                <a16:creationId xmlns:a16="http://schemas.microsoft.com/office/drawing/2014/main" id="{2CEC82C7-0F50-4EF5-B1F7-47FDFDF8B7E9}"/>
              </a:ext>
            </a:extLst>
          </p:cNvPr>
          <p:cNvSpPr/>
          <p:nvPr/>
        </p:nvSpPr>
        <p:spPr>
          <a:xfrm rot="1222931">
            <a:off x="4330694" y="5092014"/>
            <a:ext cx="491583" cy="424732"/>
          </a:xfrm>
          <a:prstGeom prst="arc">
            <a:avLst>
              <a:gd name="adj1" fmla="val 19375703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6" name="Arc 155">
            <a:extLst>
              <a:ext uri="{FF2B5EF4-FFF2-40B4-BE49-F238E27FC236}">
                <a16:creationId xmlns:a16="http://schemas.microsoft.com/office/drawing/2014/main" id="{98E350ED-FB60-4159-B005-F6CC3753BAE3}"/>
              </a:ext>
            </a:extLst>
          </p:cNvPr>
          <p:cNvSpPr/>
          <p:nvPr/>
        </p:nvSpPr>
        <p:spPr>
          <a:xfrm>
            <a:off x="6050360" y="4299827"/>
            <a:ext cx="491583" cy="424732"/>
          </a:xfrm>
          <a:prstGeom prst="arc">
            <a:avLst>
              <a:gd name="adj1" fmla="val 17056124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3A5FE43-EF41-42AB-B063-F10EA9F04F17}"/>
                  </a:ext>
                </a:extLst>
              </p:cNvPr>
              <p:cNvSpPr txBox="1"/>
              <p:nvPr/>
            </p:nvSpPr>
            <p:spPr>
              <a:xfrm>
                <a:off x="6487348" y="4051326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93A5FE43-EF41-42AB-B063-F10EA9F04F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7348" y="4051326"/>
                <a:ext cx="504056" cy="341632"/>
              </a:xfrm>
              <a:prstGeom prst="rect">
                <a:avLst/>
              </a:prstGeom>
              <a:blipFill>
                <a:blip r:embed="rId9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2E35AFB-1065-4FB4-A37C-2C6B9743492B}"/>
                  </a:ext>
                </a:extLst>
              </p:cNvPr>
              <p:cNvSpPr txBox="1"/>
              <p:nvPr/>
            </p:nvSpPr>
            <p:spPr>
              <a:xfrm>
                <a:off x="5430910" y="5083911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52E35AFB-1065-4FB4-A37C-2C6B97434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0910" y="5083911"/>
                <a:ext cx="504056" cy="341632"/>
              </a:xfrm>
              <a:prstGeom prst="rect">
                <a:avLst/>
              </a:prstGeom>
              <a:blipFill>
                <a:blip r:embed="rId10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Arc 160">
            <a:extLst>
              <a:ext uri="{FF2B5EF4-FFF2-40B4-BE49-F238E27FC236}">
                <a16:creationId xmlns:a16="http://schemas.microsoft.com/office/drawing/2014/main" id="{DB1B0A5A-E9B6-4C46-BCC8-BBB993A40F2B}"/>
              </a:ext>
            </a:extLst>
          </p:cNvPr>
          <p:cNvSpPr/>
          <p:nvPr/>
        </p:nvSpPr>
        <p:spPr>
          <a:xfrm rot="20898213">
            <a:off x="6722461" y="2844639"/>
            <a:ext cx="491583" cy="424732"/>
          </a:xfrm>
          <a:prstGeom prst="arc">
            <a:avLst>
              <a:gd name="adj1" fmla="val 17056122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9DC1E0D-A270-4E67-A12D-BAC761EBDC12}"/>
                  </a:ext>
                </a:extLst>
              </p:cNvPr>
              <p:cNvSpPr txBox="1"/>
              <p:nvPr/>
            </p:nvSpPr>
            <p:spPr>
              <a:xfrm>
                <a:off x="7105001" y="2461362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A9DC1E0D-A270-4E67-A12D-BAC761EBD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5001" y="2461362"/>
                <a:ext cx="504056" cy="341632"/>
              </a:xfrm>
              <a:prstGeom prst="rect">
                <a:avLst/>
              </a:prstGeom>
              <a:blipFill>
                <a:blip r:embed="rId11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3217FA29-9E40-4C68-B70D-39D53470687C}"/>
              </a:ext>
            </a:extLst>
          </p:cNvPr>
          <p:cNvCxnSpPr>
            <a:cxnSpLocks/>
          </p:cNvCxnSpPr>
          <p:nvPr/>
        </p:nvCxnSpPr>
        <p:spPr>
          <a:xfrm>
            <a:off x="4011694" y="5425543"/>
            <a:ext cx="97437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E27B467-5319-4972-A340-69CE03D3F464}"/>
              </a:ext>
            </a:extLst>
          </p:cNvPr>
          <p:cNvCxnSpPr>
            <a:cxnSpLocks/>
          </p:cNvCxnSpPr>
          <p:nvPr/>
        </p:nvCxnSpPr>
        <p:spPr>
          <a:xfrm flipH="1" flipV="1">
            <a:off x="3636588" y="4676421"/>
            <a:ext cx="416362" cy="754868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7" name="Picture 166">
            <a:extLst>
              <a:ext uri="{FF2B5EF4-FFF2-40B4-BE49-F238E27FC236}">
                <a16:creationId xmlns:a16="http://schemas.microsoft.com/office/drawing/2014/main" id="{6D59DDE6-364B-46BE-BA30-B80579DFF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361979">
            <a:off x="10221828" y="1657891"/>
            <a:ext cx="1482661" cy="881844"/>
          </a:xfrm>
          <a:prstGeom prst="rect">
            <a:avLst/>
          </a:prstGeom>
        </p:spPr>
      </p:pic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C718DBF3-B858-4C46-A5FF-CF1736900902}"/>
              </a:ext>
            </a:extLst>
          </p:cNvPr>
          <p:cNvCxnSpPr>
            <a:cxnSpLocks/>
          </p:cNvCxnSpPr>
          <p:nvPr/>
        </p:nvCxnSpPr>
        <p:spPr>
          <a:xfrm flipV="1">
            <a:off x="9949432" y="3617944"/>
            <a:ext cx="1200463" cy="442359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87650476-6D02-41D1-AF82-B14C7B2ECD7F}"/>
              </a:ext>
            </a:extLst>
          </p:cNvPr>
          <p:cNvCxnSpPr>
            <a:cxnSpLocks/>
            <a:stCxn id="177" idx="2"/>
          </p:cNvCxnSpPr>
          <p:nvPr/>
        </p:nvCxnSpPr>
        <p:spPr>
          <a:xfrm>
            <a:off x="7978559" y="4761288"/>
            <a:ext cx="2967158" cy="2692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281450D-761E-49CD-939B-639E260D1F5B}"/>
              </a:ext>
            </a:extLst>
          </p:cNvPr>
          <p:cNvSpPr/>
          <p:nvPr/>
        </p:nvSpPr>
        <p:spPr>
          <a:xfrm>
            <a:off x="7914472" y="4620930"/>
            <a:ext cx="277232" cy="4247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CF6209C-CE23-4B98-9E57-0801BCEBF257}"/>
              </a:ext>
            </a:extLst>
          </p:cNvPr>
          <p:cNvSpPr/>
          <p:nvPr/>
        </p:nvSpPr>
        <p:spPr>
          <a:xfrm rot="4203847">
            <a:off x="8913952" y="3385688"/>
            <a:ext cx="134035" cy="206715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D24D890B-5BD1-4896-AE7D-E08A1C97B88C}"/>
              </a:ext>
            </a:extLst>
          </p:cNvPr>
          <p:cNvSpPr/>
          <p:nvPr/>
        </p:nvSpPr>
        <p:spPr>
          <a:xfrm rot="2181168">
            <a:off x="10290114" y="2691245"/>
            <a:ext cx="133200" cy="15957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1663BF1E-EE1A-4CD7-93F6-F55BA4D8B398}"/>
              </a:ext>
            </a:extLst>
          </p:cNvPr>
          <p:cNvSpPr/>
          <p:nvPr/>
        </p:nvSpPr>
        <p:spPr>
          <a:xfrm>
            <a:off x="9831444" y="4012165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5E04D364-396E-4CA0-919E-5079CC01DD92}"/>
              </a:ext>
            </a:extLst>
          </p:cNvPr>
          <p:cNvSpPr/>
          <p:nvPr/>
        </p:nvSpPr>
        <p:spPr>
          <a:xfrm>
            <a:off x="10739269" y="2780590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B9156C42-CE4A-47E8-8D83-C6514FA5BEA8}"/>
              </a:ext>
            </a:extLst>
          </p:cNvPr>
          <p:cNvSpPr/>
          <p:nvPr/>
        </p:nvSpPr>
        <p:spPr>
          <a:xfrm>
            <a:off x="7978559" y="4689279"/>
            <a:ext cx="144016" cy="144017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C4D5FFAE-A4D1-4774-95CA-EAEDF849AE9B}"/>
              </a:ext>
            </a:extLst>
          </p:cNvPr>
          <p:cNvCxnSpPr>
            <a:stCxn id="170" idx="2"/>
          </p:cNvCxnSpPr>
          <p:nvPr/>
        </p:nvCxnSpPr>
        <p:spPr>
          <a:xfrm flipH="1">
            <a:off x="7914472" y="5045662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B0FB49FE-AB25-43DE-AE48-5469257B59FC}"/>
              </a:ext>
            </a:extLst>
          </p:cNvPr>
          <p:cNvCxnSpPr/>
          <p:nvPr/>
        </p:nvCxnSpPr>
        <p:spPr>
          <a:xfrm flipH="1">
            <a:off x="7983959" y="5055881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F0661F30-1863-4D01-BB59-927C8E728F93}"/>
              </a:ext>
            </a:extLst>
          </p:cNvPr>
          <p:cNvCxnSpPr/>
          <p:nvPr/>
        </p:nvCxnSpPr>
        <p:spPr>
          <a:xfrm flipH="1">
            <a:off x="7820206" y="5055881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631EB7A4-32B9-4F7C-9763-6A4C7EE66581}"/>
              </a:ext>
            </a:extLst>
          </p:cNvPr>
          <p:cNvCxnSpPr/>
          <p:nvPr/>
        </p:nvCxnSpPr>
        <p:spPr>
          <a:xfrm flipH="1">
            <a:off x="8053267" y="5055881"/>
            <a:ext cx="138616" cy="11626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849E3F60-394B-4B3F-AE5B-BE3D37C29DD9}"/>
              </a:ext>
            </a:extLst>
          </p:cNvPr>
          <p:cNvCxnSpPr>
            <a:cxnSpLocks/>
          </p:cNvCxnSpPr>
          <p:nvPr/>
        </p:nvCxnSpPr>
        <p:spPr>
          <a:xfrm flipV="1">
            <a:off x="10794792" y="2149691"/>
            <a:ext cx="529742" cy="760190"/>
          </a:xfrm>
          <a:prstGeom prst="line">
            <a:avLst/>
          </a:prstGeom>
          <a:ln w="28575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Arc 184">
            <a:extLst>
              <a:ext uri="{FF2B5EF4-FFF2-40B4-BE49-F238E27FC236}">
                <a16:creationId xmlns:a16="http://schemas.microsoft.com/office/drawing/2014/main" id="{72E1C8F5-84C6-4BF0-8349-1103215DC8A0}"/>
              </a:ext>
            </a:extLst>
          </p:cNvPr>
          <p:cNvSpPr/>
          <p:nvPr/>
        </p:nvSpPr>
        <p:spPr>
          <a:xfrm rot="1222931">
            <a:off x="8325599" y="4427758"/>
            <a:ext cx="491583" cy="424732"/>
          </a:xfrm>
          <a:prstGeom prst="arc">
            <a:avLst>
              <a:gd name="adj1" fmla="val 19375703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Arc 185">
            <a:extLst>
              <a:ext uri="{FF2B5EF4-FFF2-40B4-BE49-F238E27FC236}">
                <a16:creationId xmlns:a16="http://schemas.microsoft.com/office/drawing/2014/main" id="{C35F28A1-6712-4083-80C7-A8FEC3E98D25}"/>
              </a:ext>
            </a:extLst>
          </p:cNvPr>
          <p:cNvSpPr/>
          <p:nvPr/>
        </p:nvSpPr>
        <p:spPr>
          <a:xfrm>
            <a:off x="10045265" y="3635571"/>
            <a:ext cx="491583" cy="424732"/>
          </a:xfrm>
          <a:prstGeom prst="arc">
            <a:avLst>
              <a:gd name="adj1" fmla="val 17056124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1282F21C-3F66-401B-8B08-F1347662602D}"/>
                  </a:ext>
                </a:extLst>
              </p:cNvPr>
              <p:cNvSpPr txBox="1"/>
              <p:nvPr/>
            </p:nvSpPr>
            <p:spPr>
              <a:xfrm>
                <a:off x="10321726" y="3424864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1282F21C-3F66-401B-8B08-F13476626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1726" y="3424864"/>
                <a:ext cx="504056" cy="341632"/>
              </a:xfrm>
              <a:prstGeom prst="rect">
                <a:avLst/>
              </a:prstGeom>
              <a:blipFill>
                <a:blip r:embed="rId12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730708B0-97A3-4DEE-AD4B-2FA75CD5B6F3}"/>
                  </a:ext>
                </a:extLst>
              </p:cNvPr>
              <p:cNvSpPr txBox="1"/>
              <p:nvPr/>
            </p:nvSpPr>
            <p:spPr>
              <a:xfrm>
                <a:off x="9425815" y="4419655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8" name="TextBox 187">
                <a:extLst>
                  <a:ext uri="{FF2B5EF4-FFF2-40B4-BE49-F238E27FC236}">
                    <a16:creationId xmlns:a16="http://schemas.microsoft.com/office/drawing/2014/main" id="{730708B0-97A3-4DEE-AD4B-2FA75CD5B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5815" y="4419655"/>
                <a:ext cx="504056" cy="341632"/>
              </a:xfrm>
              <a:prstGeom prst="rect">
                <a:avLst/>
              </a:prstGeom>
              <a:blipFill>
                <a:blip r:embed="rId13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Arc 189">
            <a:extLst>
              <a:ext uri="{FF2B5EF4-FFF2-40B4-BE49-F238E27FC236}">
                <a16:creationId xmlns:a16="http://schemas.microsoft.com/office/drawing/2014/main" id="{54121838-E0C5-472D-BA23-57E19C54221C}"/>
              </a:ext>
            </a:extLst>
          </p:cNvPr>
          <p:cNvSpPr/>
          <p:nvPr/>
        </p:nvSpPr>
        <p:spPr>
          <a:xfrm rot="20898213">
            <a:off x="10669558" y="2218715"/>
            <a:ext cx="491583" cy="424732"/>
          </a:xfrm>
          <a:prstGeom prst="arc">
            <a:avLst>
              <a:gd name="adj1" fmla="val 17056122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C36BDF8-B89F-4DBD-A08E-63FB0D5DADDC}"/>
                  </a:ext>
                </a:extLst>
              </p:cNvPr>
              <p:cNvSpPr txBox="1"/>
              <p:nvPr/>
            </p:nvSpPr>
            <p:spPr>
              <a:xfrm>
                <a:off x="10880975" y="1934907"/>
                <a:ext cx="504056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b="0" i="1" smtClean="0">
                              <a:latin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1" name="TextBox 190">
                <a:extLst>
                  <a:ext uri="{FF2B5EF4-FFF2-40B4-BE49-F238E27FC236}">
                    <a16:creationId xmlns:a16="http://schemas.microsoft.com/office/drawing/2014/main" id="{1C36BDF8-B89F-4DBD-A08E-63FB0D5DA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975" y="1934907"/>
                <a:ext cx="504056" cy="341632"/>
              </a:xfrm>
              <a:prstGeom prst="rect">
                <a:avLst/>
              </a:prstGeom>
              <a:blipFill>
                <a:blip r:embed="rId14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2D9392C3-DC25-4FFB-91EC-BFFDD61169A9}"/>
              </a:ext>
            </a:extLst>
          </p:cNvPr>
          <p:cNvCxnSpPr>
            <a:cxnSpLocks/>
          </p:cNvCxnSpPr>
          <p:nvPr/>
        </p:nvCxnSpPr>
        <p:spPr>
          <a:xfrm>
            <a:off x="10945717" y="1745035"/>
            <a:ext cx="0" cy="3088261"/>
          </a:xfrm>
          <a:prstGeom prst="line">
            <a:avLst/>
          </a:prstGeom>
          <a:ln w="28575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CA6090B3-7983-4EF3-8938-5BD727B007CB}"/>
              </a:ext>
            </a:extLst>
          </p:cNvPr>
          <p:cNvCxnSpPr>
            <a:cxnSpLocks/>
          </p:cNvCxnSpPr>
          <p:nvPr/>
        </p:nvCxnSpPr>
        <p:spPr>
          <a:xfrm>
            <a:off x="8006599" y="4761287"/>
            <a:ext cx="1440160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3FA5B64B-B0FE-47C7-B587-94A5EA6000CC}"/>
              </a:ext>
            </a:extLst>
          </p:cNvPr>
          <p:cNvCxnSpPr>
            <a:cxnSpLocks/>
          </p:cNvCxnSpPr>
          <p:nvPr/>
        </p:nvCxnSpPr>
        <p:spPr>
          <a:xfrm flipV="1">
            <a:off x="8047855" y="3635571"/>
            <a:ext cx="0" cy="113146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Arrow Connector 194">
            <a:extLst>
              <a:ext uri="{FF2B5EF4-FFF2-40B4-BE49-F238E27FC236}">
                <a16:creationId xmlns:a16="http://schemas.microsoft.com/office/drawing/2014/main" id="{2A0606FB-15E7-4301-A121-07C52E09141A}"/>
              </a:ext>
            </a:extLst>
          </p:cNvPr>
          <p:cNvCxnSpPr>
            <a:cxnSpLocks/>
          </p:cNvCxnSpPr>
          <p:nvPr/>
        </p:nvCxnSpPr>
        <p:spPr>
          <a:xfrm flipV="1">
            <a:off x="4052950" y="4656210"/>
            <a:ext cx="0" cy="80794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BA3F387C-4CA6-4078-840B-36F14AB2B423}"/>
              </a:ext>
            </a:extLst>
          </p:cNvPr>
          <p:cNvCxnSpPr>
            <a:cxnSpLocks/>
          </p:cNvCxnSpPr>
          <p:nvPr/>
        </p:nvCxnSpPr>
        <p:spPr>
          <a:xfrm flipV="1">
            <a:off x="4056778" y="5085385"/>
            <a:ext cx="902336" cy="329939"/>
          </a:xfrm>
          <a:prstGeom prst="straightConnector1">
            <a:avLst/>
          </a:prstGeom>
          <a:ln w="571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145010D4-3FED-45F9-90AD-127F103C0155}"/>
              </a:ext>
            </a:extLst>
          </p:cNvPr>
          <p:cNvCxnSpPr>
            <a:cxnSpLocks/>
          </p:cNvCxnSpPr>
          <p:nvPr/>
        </p:nvCxnSpPr>
        <p:spPr>
          <a:xfrm flipV="1">
            <a:off x="5889629" y="4235485"/>
            <a:ext cx="437806" cy="54089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E4713DA0-FA20-40BC-80AA-23B2368ED080}"/>
              </a:ext>
            </a:extLst>
          </p:cNvPr>
          <p:cNvCxnSpPr>
            <a:cxnSpLocks/>
          </p:cNvCxnSpPr>
          <p:nvPr/>
        </p:nvCxnSpPr>
        <p:spPr>
          <a:xfrm flipH="1" flipV="1">
            <a:off x="5345828" y="4208068"/>
            <a:ext cx="578011" cy="56352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C62894EF-AFF5-494F-9FDF-738085667C21}"/>
              </a:ext>
            </a:extLst>
          </p:cNvPr>
          <p:cNvCxnSpPr>
            <a:cxnSpLocks/>
          </p:cNvCxnSpPr>
          <p:nvPr/>
        </p:nvCxnSpPr>
        <p:spPr>
          <a:xfrm flipH="1" flipV="1">
            <a:off x="5953850" y="3371451"/>
            <a:ext cx="857646" cy="140217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0EC5F64E-5F9B-406E-8BAF-9A94EB0BFB76}"/>
              </a:ext>
            </a:extLst>
          </p:cNvPr>
          <p:cNvCxnSpPr>
            <a:cxnSpLocks/>
          </p:cNvCxnSpPr>
          <p:nvPr/>
        </p:nvCxnSpPr>
        <p:spPr>
          <a:xfrm flipV="1">
            <a:off x="6806372" y="2953443"/>
            <a:ext cx="67556" cy="59651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45CB5480-B0C0-497F-91DC-2FA9A7E6DA16}"/>
              </a:ext>
            </a:extLst>
          </p:cNvPr>
          <p:cNvCxnSpPr>
            <a:cxnSpLocks/>
          </p:cNvCxnSpPr>
          <p:nvPr/>
        </p:nvCxnSpPr>
        <p:spPr>
          <a:xfrm flipH="1" flipV="1">
            <a:off x="6122644" y="2349877"/>
            <a:ext cx="815790" cy="8692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201">
            <a:extLst>
              <a:ext uri="{FF2B5EF4-FFF2-40B4-BE49-F238E27FC236}">
                <a16:creationId xmlns:a16="http://schemas.microsoft.com/office/drawing/2014/main" id="{C25700B6-A394-42F8-A785-2C6764CBBEA6}"/>
              </a:ext>
            </a:extLst>
          </p:cNvPr>
          <p:cNvCxnSpPr>
            <a:cxnSpLocks/>
          </p:cNvCxnSpPr>
          <p:nvPr/>
        </p:nvCxnSpPr>
        <p:spPr>
          <a:xfrm flipV="1">
            <a:off x="6932639" y="1743272"/>
            <a:ext cx="82794" cy="71185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2DF40637-4A27-4631-9576-F5C2215A8022}"/>
                  </a:ext>
                </a:extLst>
              </p:cNvPr>
              <p:cNvSpPr txBox="1"/>
              <p:nvPr/>
            </p:nvSpPr>
            <p:spPr>
              <a:xfrm>
                <a:off x="4742236" y="5470753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2DF40637-4A27-4631-9576-F5C2215A8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236" y="5470753"/>
                <a:ext cx="360040" cy="341632"/>
              </a:xfrm>
              <a:prstGeom prst="rect">
                <a:avLst/>
              </a:prstGeom>
              <a:blipFill>
                <a:blip r:embed="rId15"/>
                <a:stretch>
                  <a:fillRect r="-6780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88AC261-8CD0-4250-84B5-9A0B5CB6CC9B}"/>
                  </a:ext>
                </a:extLst>
              </p:cNvPr>
              <p:cNvSpPr txBox="1"/>
              <p:nvPr/>
            </p:nvSpPr>
            <p:spPr>
              <a:xfrm>
                <a:off x="6399256" y="2863333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488AC261-8CD0-4250-84B5-9A0B5CB6C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256" y="2863333"/>
                <a:ext cx="360040" cy="341632"/>
              </a:xfrm>
              <a:prstGeom prst="rect">
                <a:avLst/>
              </a:prstGeom>
              <a:blipFill>
                <a:blip r:embed="rId16"/>
                <a:stretch>
                  <a:fillRect r="-6780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670F8787-FC40-4083-91D3-AFB62CD1AD6B}"/>
                  </a:ext>
                </a:extLst>
              </p:cNvPr>
              <p:cNvSpPr txBox="1"/>
              <p:nvPr/>
            </p:nvSpPr>
            <p:spPr>
              <a:xfrm>
                <a:off x="7039590" y="1839450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5" name="TextBox 204">
                <a:extLst>
                  <a:ext uri="{FF2B5EF4-FFF2-40B4-BE49-F238E27FC236}">
                    <a16:creationId xmlns:a16="http://schemas.microsoft.com/office/drawing/2014/main" id="{670F8787-FC40-4083-91D3-AFB62CD1A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9590" y="1839450"/>
                <a:ext cx="360040" cy="341632"/>
              </a:xfrm>
              <a:prstGeom prst="rect">
                <a:avLst/>
              </a:prstGeom>
              <a:blipFill>
                <a:blip r:embed="rId17"/>
                <a:stretch>
                  <a:fillRect r="-6780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575F2F5F-ED31-4A5C-8DFC-951B83102E4F}"/>
                  </a:ext>
                </a:extLst>
              </p:cNvPr>
              <p:cNvSpPr txBox="1"/>
              <p:nvPr/>
            </p:nvSpPr>
            <p:spPr>
              <a:xfrm>
                <a:off x="4661832" y="4703882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6" name="TextBox 205">
                <a:extLst>
                  <a:ext uri="{FF2B5EF4-FFF2-40B4-BE49-F238E27FC236}">
                    <a16:creationId xmlns:a16="http://schemas.microsoft.com/office/drawing/2014/main" id="{575F2F5F-ED31-4A5C-8DFC-951B83102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1832" y="4703882"/>
                <a:ext cx="360040" cy="341632"/>
              </a:xfrm>
              <a:prstGeom prst="rect">
                <a:avLst/>
              </a:prstGeom>
              <a:blipFill>
                <a:blip r:embed="rId18"/>
                <a:stretch>
                  <a:fillRect r="-5085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7D30E26A-F64C-4F4E-9E41-C90EC0FF59D9}"/>
                  </a:ext>
                </a:extLst>
              </p:cNvPr>
              <p:cNvSpPr txBox="1"/>
              <p:nvPr/>
            </p:nvSpPr>
            <p:spPr>
              <a:xfrm>
                <a:off x="3842852" y="4354656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7D30E26A-F64C-4F4E-9E41-C90EC0FF5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852" y="4354656"/>
                <a:ext cx="360040" cy="341632"/>
              </a:xfrm>
              <a:prstGeom prst="rect">
                <a:avLst/>
              </a:prstGeom>
              <a:blipFill>
                <a:blip r:embed="rId19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20BE4CFA-84EA-42C7-8C6A-DD54EDE51B18}"/>
                  </a:ext>
                </a:extLst>
              </p:cNvPr>
              <p:cNvSpPr txBox="1"/>
              <p:nvPr/>
            </p:nvSpPr>
            <p:spPr>
              <a:xfrm>
                <a:off x="3322144" y="4703882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8" name="TextBox 207">
                <a:extLst>
                  <a:ext uri="{FF2B5EF4-FFF2-40B4-BE49-F238E27FC236}">
                    <a16:creationId xmlns:a16="http://schemas.microsoft.com/office/drawing/2014/main" id="{20BE4CFA-84EA-42C7-8C6A-DD54EDE51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2144" y="4703882"/>
                <a:ext cx="360040" cy="341632"/>
              </a:xfrm>
              <a:prstGeom prst="rect">
                <a:avLst/>
              </a:prstGeom>
              <a:blipFill>
                <a:blip r:embed="rId20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57BE9FB-A6CD-4753-AE7B-172F579A0DE2}"/>
                  </a:ext>
                </a:extLst>
              </p:cNvPr>
              <p:cNvSpPr txBox="1"/>
              <p:nvPr/>
            </p:nvSpPr>
            <p:spPr>
              <a:xfrm>
                <a:off x="5683460" y="3005682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9" name="TextBox 208">
                <a:extLst>
                  <a:ext uri="{FF2B5EF4-FFF2-40B4-BE49-F238E27FC236}">
                    <a16:creationId xmlns:a16="http://schemas.microsoft.com/office/drawing/2014/main" id="{C57BE9FB-A6CD-4753-AE7B-172F579A0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3460" y="3005682"/>
                <a:ext cx="360040" cy="341632"/>
              </a:xfrm>
              <a:prstGeom prst="rect">
                <a:avLst/>
              </a:prstGeom>
              <a:blipFill>
                <a:blip r:embed="rId21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5857AC53-DB6C-49A8-91CF-A156C4F3E486}"/>
                  </a:ext>
                </a:extLst>
              </p:cNvPr>
              <p:cNvSpPr txBox="1"/>
              <p:nvPr/>
            </p:nvSpPr>
            <p:spPr>
              <a:xfrm>
                <a:off x="5254686" y="3847166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5857AC53-DB6C-49A8-91CF-A156C4F3E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4686" y="3847166"/>
                <a:ext cx="360040" cy="341632"/>
              </a:xfrm>
              <a:prstGeom prst="rect">
                <a:avLst/>
              </a:prstGeom>
              <a:blipFill>
                <a:blip r:embed="rId22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B32AE70-7DAD-4D04-B4FE-889A18551CFB}"/>
                  </a:ext>
                </a:extLst>
              </p:cNvPr>
              <p:cNvSpPr txBox="1"/>
              <p:nvPr/>
            </p:nvSpPr>
            <p:spPr>
              <a:xfrm>
                <a:off x="5900645" y="3866436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B32AE70-7DAD-4D04-B4FE-889A18551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645" y="3866436"/>
                <a:ext cx="360040" cy="341632"/>
              </a:xfrm>
              <a:prstGeom prst="rect">
                <a:avLst/>
              </a:prstGeom>
              <a:blipFill>
                <a:blip r:embed="rId23"/>
                <a:stretch>
                  <a:fillRect r="-6780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AA3A6B3E-EFBF-48AA-AA37-4E86D62F020E}"/>
                  </a:ext>
                </a:extLst>
              </p:cNvPr>
              <p:cNvSpPr txBox="1"/>
              <p:nvPr/>
            </p:nvSpPr>
            <p:spPr>
              <a:xfrm>
                <a:off x="8970766" y="4833296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4" name="TextBox 213">
                <a:extLst>
                  <a:ext uri="{FF2B5EF4-FFF2-40B4-BE49-F238E27FC236}">
                    <a16:creationId xmlns:a16="http://schemas.microsoft.com/office/drawing/2014/main" id="{AA3A6B3E-EFBF-48AA-AA37-4E86D62F0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766" y="4833296"/>
                <a:ext cx="360040" cy="341632"/>
              </a:xfrm>
              <a:prstGeom prst="rect">
                <a:avLst/>
              </a:prstGeom>
              <a:blipFill>
                <a:blip r:embed="rId24"/>
                <a:stretch>
                  <a:fillRect r="-6780"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168167D-D1D1-4FD6-AF3B-9E52832DDC78}"/>
                  </a:ext>
                </a:extLst>
              </p:cNvPr>
              <p:cNvSpPr txBox="1"/>
              <p:nvPr/>
            </p:nvSpPr>
            <p:spPr>
              <a:xfrm>
                <a:off x="7658386" y="3913670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6168167D-D1D1-4FD6-AF3B-9E52832DD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386" y="3913670"/>
                <a:ext cx="360040" cy="341632"/>
              </a:xfrm>
              <a:prstGeom prst="rect">
                <a:avLst/>
              </a:prstGeom>
              <a:blipFill>
                <a:blip r:embed="rId25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TextBox 104">
            <a:extLst>
              <a:ext uri="{FF2B5EF4-FFF2-40B4-BE49-F238E27FC236}">
                <a16:creationId xmlns:a16="http://schemas.microsoft.com/office/drawing/2014/main" id="{3F104A4D-38BB-424F-BCFE-000146225A18}"/>
              </a:ext>
            </a:extLst>
          </p:cNvPr>
          <p:cNvSpPr txBox="1"/>
          <p:nvPr/>
        </p:nvSpPr>
        <p:spPr>
          <a:xfrm>
            <a:off x="9446759" y="5202958"/>
            <a:ext cx="3600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cxnSp>
        <p:nvCxnSpPr>
          <p:cNvPr id="218" name="Straight Arrow Connector 217">
            <a:extLst>
              <a:ext uri="{FF2B5EF4-FFF2-40B4-BE49-F238E27FC236}">
                <a16:creationId xmlns:a16="http://schemas.microsoft.com/office/drawing/2014/main" id="{BA45E2A5-1900-4698-9A77-EB7DF8E2A75B}"/>
              </a:ext>
            </a:extLst>
          </p:cNvPr>
          <p:cNvCxnSpPr>
            <a:cxnSpLocks/>
          </p:cNvCxnSpPr>
          <p:nvPr/>
        </p:nvCxnSpPr>
        <p:spPr>
          <a:xfrm>
            <a:off x="8047855" y="5276402"/>
            <a:ext cx="2932568" cy="21186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1A0CB362-146C-4EFA-8AED-DA6D818CBF52}"/>
              </a:ext>
            </a:extLst>
          </p:cNvPr>
          <p:cNvCxnSpPr>
            <a:cxnSpLocks/>
          </p:cNvCxnSpPr>
          <p:nvPr/>
        </p:nvCxnSpPr>
        <p:spPr>
          <a:xfrm flipH="1">
            <a:off x="11551263" y="1695038"/>
            <a:ext cx="8237" cy="3167775"/>
          </a:xfrm>
          <a:prstGeom prst="straightConnector1">
            <a:avLst/>
          </a:prstGeom>
          <a:ln w="5715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35F62409-221B-42F2-A53E-7DF137A9EACC}"/>
              </a:ext>
            </a:extLst>
          </p:cNvPr>
          <p:cNvSpPr txBox="1"/>
          <p:nvPr/>
        </p:nvSpPr>
        <p:spPr>
          <a:xfrm>
            <a:off x="11586883" y="3471299"/>
            <a:ext cx="3600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173B382-3CA7-4B46-BA3C-56D9389F8845}"/>
              </a:ext>
            </a:extLst>
          </p:cNvPr>
          <p:cNvSpPr txBox="1"/>
          <p:nvPr/>
        </p:nvSpPr>
        <p:spPr>
          <a:xfrm>
            <a:off x="10443793" y="1215865"/>
            <a:ext cx="123173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y, Ø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34" name="Arc 233">
            <a:extLst>
              <a:ext uri="{FF2B5EF4-FFF2-40B4-BE49-F238E27FC236}">
                <a16:creationId xmlns:a16="http://schemas.microsoft.com/office/drawing/2014/main" id="{A77EDB68-6899-46B3-A472-B460B197C7E0}"/>
              </a:ext>
            </a:extLst>
          </p:cNvPr>
          <p:cNvSpPr/>
          <p:nvPr/>
        </p:nvSpPr>
        <p:spPr>
          <a:xfrm>
            <a:off x="10364437" y="4545361"/>
            <a:ext cx="491583" cy="424732"/>
          </a:xfrm>
          <a:prstGeom prst="arc">
            <a:avLst>
              <a:gd name="adj1" fmla="val 17056124"/>
              <a:gd name="adj2" fmla="val 320502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081C84AD-73CF-46F8-9333-DBCE1576F249}"/>
              </a:ext>
            </a:extLst>
          </p:cNvPr>
          <p:cNvSpPr txBox="1"/>
          <p:nvPr/>
        </p:nvSpPr>
        <p:spPr>
          <a:xfrm>
            <a:off x="10600149" y="4188798"/>
            <a:ext cx="36004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/>
              <a:t>Ø</a:t>
            </a: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E9994EE5-6C19-4455-A810-DDC0C29A6C7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052998" y="1413389"/>
            <a:ext cx="2058682" cy="309801"/>
          </a:xfrm>
          <a:prstGeom prst="rect">
            <a:avLst/>
          </a:prstGeom>
        </p:spPr>
      </p:pic>
      <p:pic>
        <p:nvPicPr>
          <p:cNvPr id="237" name="Picture 236">
            <a:extLst>
              <a:ext uri="{FF2B5EF4-FFF2-40B4-BE49-F238E27FC236}">
                <a16:creationId xmlns:a16="http://schemas.microsoft.com/office/drawing/2014/main" id="{F021984D-00BF-41F9-867C-AD65DA3BE1D5}"/>
              </a:ext>
            </a:extLst>
          </p:cNvPr>
          <p:cNvPicPr>
            <a:picLocks noChangeAspect="1"/>
          </p:cNvPicPr>
          <p:nvPr/>
        </p:nvPicPr>
        <p:blipFill rotWithShape="1">
          <a:blip r:embed="rId27"/>
          <a:srcRect b="9455"/>
          <a:stretch/>
        </p:blipFill>
        <p:spPr>
          <a:xfrm>
            <a:off x="857120" y="1438070"/>
            <a:ext cx="5174164" cy="792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7BE9E00-7075-4318-A26E-E146D6718D40}"/>
                  </a:ext>
                </a:extLst>
              </p:cNvPr>
              <p:cNvSpPr txBox="1"/>
              <p:nvPr/>
            </p:nvSpPr>
            <p:spPr>
              <a:xfrm>
                <a:off x="6221753" y="2001677"/>
                <a:ext cx="360040" cy="3416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1" name="TextBox 210">
                <a:extLst>
                  <a:ext uri="{FF2B5EF4-FFF2-40B4-BE49-F238E27FC236}">
                    <a16:creationId xmlns:a16="http://schemas.microsoft.com/office/drawing/2014/main" id="{E7BE9E00-7075-4318-A26E-E146D6718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753" y="2001677"/>
                <a:ext cx="360040" cy="341632"/>
              </a:xfrm>
              <a:prstGeom prst="rect">
                <a:avLst/>
              </a:prstGeom>
              <a:blipFill>
                <a:blip r:embed="rId28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0" name="TextBox 239">
            <a:extLst>
              <a:ext uri="{FF2B5EF4-FFF2-40B4-BE49-F238E27FC236}">
                <a16:creationId xmlns:a16="http://schemas.microsoft.com/office/drawing/2014/main" id="{63335979-FB78-4B27-90C2-5B875BA1F98E}"/>
              </a:ext>
            </a:extLst>
          </p:cNvPr>
          <p:cNvSpPr txBox="1"/>
          <p:nvPr/>
        </p:nvSpPr>
        <p:spPr>
          <a:xfrm>
            <a:off x="263261" y="961750"/>
            <a:ext cx="998284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IN" sz="2400" dirty="0"/>
              <a:t>Position and orientation of the of the end-effector w.r.t. fixed base.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BCB736B-9A93-4434-8FAE-E72326B8819B}"/>
              </a:ext>
            </a:extLst>
          </p:cNvPr>
          <p:cNvSpPr txBox="1"/>
          <p:nvPr/>
        </p:nvSpPr>
        <p:spPr>
          <a:xfrm>
            <a:off x="543113" y="1388835"/>
            <a:ext cx="46178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 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4AFD2AE-4643-4371-811C-3F33D8F6C578}"/>
              </a:ext>
            </a:extLst>
          </p:cNvPr>
          <p:cNvSpPr txBox="1"/>
          <p:nvPr/>
        </p:nvSpPr>
        <p:spPr>
          <a:xfrm>
            <a:off x="552563" y="1865155"/>
            <a:ext cx="46178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 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D34D4F5D-36DC-4EF4-B579-C8BC86BD4B44}"/>
              </a:ext>
            </a:extLst>
          </p:cNvPr>
          <p:cNvSpPr txBox="1"/>
          <p:nvPr/>
        </p:nvSpPr>
        <p:spPr>
          <a:xfrm>
            <a:off x="6755036" y="1389620"/>
            <a:ext cx="46178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IN" sz="2400" dirty="0"/>
              <a:t> 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2227A840-E508-4202-81AA-3F66780FC6FF}"/>
              </a:ext>
            </a:extLst>
          </p:cNvPr>
          <p:cNvSpPr txBox="1"/>
          <p:nvPr/>
        </p:nvSpPr>
        <p:spPr>
          <a:xfrm>
            <a:off x="3786140" y="5874522"/>
            <a:ext cx="3199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dirty="0"/>
              <a:t>Link Frame Assignment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B275BAA9-0325-4251-88F6-427860FF141D}"/>
              </a:ext>
            </a:extLst>
          </p:cNvPr>
          <p:cNvSpPr txBox="1"/>
          <p:nvPr/>
        </p:nvSpPr>
        <p:spPr>
          <a:xfrm>
            <a:off x="7227629" y="5849433"/>
            <a:ext cx="5096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2000" dirty="0"/>
              <a:t>Projection of tip/end-effector’s point</a:t>
            </a:r>
          </a:p>
        </p:txBody>
      </p:sp>
      <p:sp>
        <p:nvSpPr>
          <p:cNvPr id="249" name="Slide Number Placeholder 248">
            <a:extLst>
              <a:ext uri="{FF2B5EF4-FFF2-40B4-BE49-F238E27FC236}">
                <a16:creationId xmlns:a16="http://schemas.microsoft.com/office/drawing/2014/main" id="{5945A189-D770-41AD-9298-7AC368C7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3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2674032" y="94566"/>
            <a:ext cx="684076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Kinematics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93711A7-644C-47D8-9539-CA3A8F4DB2EE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249" name="Slide Number Placeholder 248">
            <a:extLst>
              <a:ext uri="{FF2B5EF4-FFF2-40B4-BE49-F238E27FC236}">
                <a16:creationId xmlns:a16="http://schemas.microsoft.com/office/drawing/2014/main" id="{5945A189-D770-41AD-9298-7AC368C7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6</a:t>
            </a:fld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1EA227A-9EE4-4C1A-AECB-126F0F975E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323" y="1603942"/>
            <a:ext cx="3836060" cy="39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7CB34D-C27E-4A67-B4DE-7689C70CF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380" y="1618589"/>
            <a:ext cx="3850250" cy="39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030429-E127-4A4A-B973-CEB6B17F3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" y="1618589"/>
            <a:ext cx="4392488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342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2674032" y="94566"/>
            <a:ext cx="684076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Kinematics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93711A7-644C-47D8-9539-CA3A8F4DB2EE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249" name="Slide Number Placeholder 248">
            <a:extLst>
              <a:ext uri="{FF2B5EF4-FFF2-40B4-BE49-F238E27FC236}">
                <a16:creationId xmlns:a16="http://schemas.microsoft.com/office/drawing/2014/main" id="{5945A189-D770-41AD-9298-7AC368C7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915CA4-DDBB-4BD3-BE67-A05ECDE0A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428" y="1629293"/>
            <a:ext cx="3726593" cy="39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CCEA32-EAB3-48FF-B497-580FE3498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996" y="1627765"/>
            <a:ext cx="3712500" cy="39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11A468-47AF-46D5-8E5F-26FB71CB09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" y="1627765"/>
            <a:ext cx="4690776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52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2674032" y="94566"/>
            <a:ext cx="684076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Kinematics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93711A7-644C-47D8-9539-CA3A8F4DB2EE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249" name="Slide Number Placeholder 248">
            <a:extLst>
              <a:ext uri="{FF2B5EF4-FFF2-40B4-BE49-F238E27FC236}">
                <a16:creationId xmlns:a16="http://schemas.microsoft.com/office/drawing/2014/main" id="{5945A189-D770-41AD-9298-7AC368C7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8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93A130-92F7-4680-A4E5-C3818990A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660" y="1669661"/>
            <a:ext cx="3734505" cy="39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04CB06-72CB-40E2-893D-419015936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372" y="1669661"/>
            <a:ext cx="3719881" cy="39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E268CF-493A-4430-AA29-CDF82E481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2" y="1669661"/>
            <a:ext cx="4519118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482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39DA06-E8F9-4F44-91ED-5071F7248023}"/>
              </a:ext>
            </a:extLst>
          </p:cNvPr>
          <p:cNvSpPr/>
          <p:nvPr/>
        </p:nvSpPr>
        <p:spPr>
          <a:xfrm>
            <a:off x="0" y="0"/>
            <a:ext cx="12188825" cy="8908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N" dirty="0" err="1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15B9A-F0BF-433E-824A-AE5B8B07B5EF}"/>
              </a:ext>
            </a:extLst>
          </p:cNvPr>
          <p:cNvSpPr txBox="1"/>
          <p:nvPr/>
        </p:nvSpPr>
        <p:spPr>
          <a:xfrm>
            <a:off x="2674032" y="94566"/>
            <a:ext cx="6840760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of Kinematics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93711A7-644C-47D8-9539-CA3A8F4DB2EE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  <p:sp>
        <p:nvSpPr>
          <p:cNvPr id="249" name="Slide Number Placeholder 248">
            <a:extLst>
              <a:ext uri="{FF2B5EF4-FFF2-40B4-BE49-F238E27FC236}">
                <a16:creationId xmlns:a16="http://schemas.microsoft.com/office/drawing/2014/main" id="{5945A189-D770-41AD-9298-7AC368C7A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9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BE8C6-0BEB-480A-B25F-7AB94E81D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503" y="1669660"/>
            <a:ext cx="3803209" cy="396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DC7E5A-DB43-455E-AF3A-B2DC2731E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465" y="1669660"/>
            <a:ext cx="3758844" cy="3960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909AE7-79D7-4F10-9506-06B351464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" y="1669659"/>
            <a:ext cx="4343945" cy="39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50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9DF998-8553-4B40-BDD9-BFD5EA3C72E3}"/>
              </a:ext>
            </a:extLst>
          </p:cNvPr>
          <p:cNvSpPr txBox="1"/>
          <p:nvPr/>
        </p:nvSpPr>
        <p:spPr>
          <a:xfrm>
            <a:off x="4330216" y="2780928"/>
            <a:ext cx="3528392" cy="8402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en-IN" sz="5400" dirty="0"/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035BF6-0F76-43D7-8C63-AA8025C7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D1DD6-1D24-4565-9283-636605A4F80D}"/>
              </a:ext>
            </a:extLst>
          </p:cNvPr>
          <p:cNvSpPr txBox="1"/>
          <p:nvPr/>
        </p:nvSpPr>
        <p:spPr>
          <a:xfrm>
            <a:off x="457110" y="6408457"/>
            <a:ext cx="47525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400" dirty="0">
                <a:solidFill>
                  <a:schemeClr val="bg1"/>
                </a:solidFill>
              </a:rPr>
              <a:t>Sourav Kumar</a:t>
            </a:r>
          </a:p>
        </p:txBody>
      </p:sp>
    </p:spTree>
    <p:extLst>
      <p:ext uri="{BB962C8B-B14F-4D97-AF65-F5344CB8AC3E}">
        <p14:creationId xmlns:p14="http://schemas.microsoft.com/office/powerpoint/2010/main" val="19689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riped Border 16x9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98000"/>
              </a:schemeClr>
            </a:duotone>
          </a:blip>
          <a:tile tx="0" ty="0" sx="100000" sy="100000" flip="none" algn="ctr"/>
        </a:blipFill>
      </a:bgFillStyleLst>
    </a:fmtScheme>
  </a:themeElements>
  <a:objectDefaults>
    <a:spDef>
      <a:spPr>
        <a:solidFill>
          <a:schemeClr val="accent1">
            <a:lumMod val="50000"/>
          </a:schemeClr>
        </a:solidFill>
        <a:ln>
          <a:solidFill>
            <a:schemeClr val="accent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riped black border presentation (widescreen).potx" id="{96522838-024F-4A04-A543-9EF396F770C0}" vid="{BD969DAD-256A-4182-ABA2-1577ED7D3144}"/>
    </a:ext>
  </a:extLst>
</a:theme>
</file>

<file path=ppt/theme/theme2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tripedBorder_16x9">
      <a:dk1>
        <a:srgbClr val="404040"/>
      </a:dk1>
      <a:lt1>
        <a:sysClr val="window" lastClr="FFFFFF"/>
      </a:lt1>
      <a:dk2>
        <a:srgbClr val="000000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9D66D"/>
      </a:accent5>
      <a:accent6>
        <a:srgbClr val="838383"/>
      </a:accent6>
      <a:hlink>
        <a:srgbClr val="F59E00"/>
      </a:hlink>
      <a:folHlink>
        <a:srgbClr val="B2B2B2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Striped black border presentation (widescreen)</Template>
  <TotalTime>321</TotalTime>
  <Words>302</Words>
  <Application>Microsoft Office PowerPoint</Application>
  <PresentationFormat>Custom</PresentationFormat>
  <Paragraphs>139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Cambria Math</vt:lpstr>
      <vt:lpstr>Courier New</vt:lpstr>
      <vt:lpstr>Euphemia</vt:lpstr>
      <vt:lpstr>Times New Roman</vt:lpstr>
      <vt:lpstr>Wingdings</vt:lpstr>
      <vt:lpstr>Striped Border 16x9</vt:lpstr>
      <vt:lpstr>Kinematics of 3R or RRR Planar Robotic Arm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2R PLANAR</dc:title>
  <dc:creator>sourav kumar</dc:creator>
  <cp:lastModifiedBy>Sourav Kumar</cp:lastModifiedBy>
  <cp:revision>40</cp:revision>
  <dcterms:created xsi:type="dcterms:W3CDTF">2026-04-02T04:45:01Z</dcterms:created>
  <dcterms:modified xsi:type="dcterms:W3CDTF">2026-06-17T10:47:31Z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